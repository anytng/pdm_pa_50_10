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21383625" cy="30275213"/>
  <p:notesSz cx="7559675" cy="10691813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535" userDrawn="1">
          <p15:clr>
            <a:srgbClr val="A4A3A4"/>
          </p15:clr>
        </p15:guide>
        <p15:guide id="2" pos="673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lberto Simoes" initials="AS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65"/>
  </p:normalViewPr>
  <p:slideViewPr>
    <p:cSldViewPr snapToGrid="0" showGuides="1">
      <p:cViewPr>
        <p:scale>
          <a:sx n="60" d="100"/>
          <a:sy n="60" d="100"/>
        </p:scale>
        <p:origin x="-466" y="-2554"/>
      </p:cViewPr>
      <p:guideLst>
        <p:guide orient="horz" pos="9535"/>
        <p:guide pos="673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commentAuthors" Target="commentAuthors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35" userDrawn="1">
          <p15:clr>
            <a:srgbClr val="FBAE40"/>
          </p15:clr>
        </p15:guide>
        <p15:guide id="2" pos="6735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963360" y="796680"/>
            <a:ext cx="19244880" cy="5055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pt-PT" sz="488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1068840" y="7084080"/>
            <a:ext cx="19244880" cy="17559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963360" y="796680"/>
            <a:ext cx="19244880" cy="5055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pt-PT" sz="488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1068840" y="7084080"/>
            <a:ext cx="19244880" cy="17559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PT" sz="655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963360" y="796680"/>
            <a:ext cx="19244880" cy="5055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pt-PT" sz="488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068840" y="7084080"/>
            <a:ext cx="9391320" cy="17559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PT" sz="65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10929960" y="7084080"/>
            <a:ext cx="9391320" cy="17559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PT" sz="655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963360" y="796680"/>
            <a:ext cx="19244880" cy="5055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pt-PT" sz="488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963360" y="796680"/>
            <a:ext cx="19244880" cy="23435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963360" y="796680"/>
            <a:ext cx="19244880" cy="5055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pt-PT" sz="488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1068840" y="7084080"/>
            <a:ext cx="9391320" cy="8375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PT" sz="65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10929960" y="7084080"/>
            <a:ext cx="9391320" cy="17559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PT" sz="65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1068840" y="16255440"/>
            <a:ext cx="9391320" cy="8375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PT" sz="655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963360" y="796680"/>
            <a:ext cx="19244880" cy="5055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pt-PT" sz="488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1068840" y="7084080"/>
            <a:ext cx="9391320" cy="17559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PT" sz="65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10929960" y="7084080"/>
            <a:ext cx="9391320" cy="8375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PT" sz="65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10929960" y="16255440"/>
            <a:ext cx="9391320" cy="8375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PT" sz="655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963360" y="796680"/>
            <a:ext cx="19244880" cy="5055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pt-PT" sz="488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1068840" y="7084080"/>
            <a:ext cx="9391320" cy="8375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PT" sz="65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10929960" y="7084080"/>
            <a:ext cx="9391320" cy="8375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PT" sz="65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1068840" y="16255440"/>
            <a:ext cx="19244880" cy="8375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PT" sz="655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963360" y="796680"/>
            <a:ext cx="19244880" cy="5055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pt-PT" sz="488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1068840" y="7084080"/>
            <a:ext cx="19244880" cy="8375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PT" sz="65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1068840" y="16255440"/>
            <a:ext cx="19244880" cy="8375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PT" sz="655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963360" y="796680"/>
            <a:ext cx="19244880" cy="5055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pt-PT" sz="488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1068840" y="7084080"/>
            <a:ext cx="9391320" cy="8375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PT" sz="65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10929960" y="7084080"/>
            <a:ext cx="9391320" cy="8375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PT" sz="65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1068840" y="16255440"/>
            <a:ext cx="9391320" cy="8375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PT" sz="65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10929960" y="16255440"/>
            <a:ext cx="9391320" cy="8375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PT" sz="655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963360" y="796680"/>
            <a:ext cx="19244880" cy="5055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pt-PT" sz="488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1068840" y="7084080"/>
            <a:ext cx="6196680" cy="8375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PT" sz="65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7575840" y="7084080"/>
            <a:ext cx="6196680" cy="8375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PT" sz="65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14082480" y="7084080"/>
            <a:ext cx="6196680" cy="8375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PT" sz="65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1068840" y="16255440"/>
            <a:ext cx="6196680" cy="8375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PT" sz="65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body"/>
          </p:nvPr>
        </p:nvSpPr>
        <p:spPr>
          <a:xfrm>
            <a:off x="7575840" y="16255440"/>
            <a:ext cx="6196680" cy="8375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PT" sz="65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 type="body"/>
          </p:nvPr>
        </p:nvSpPr>
        <p:spPr>
          <a:xfrm>
            <a:off x="14082480" y="16255440"/>
            <a:ext cx="6196680" cy="8375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PT" sz="655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stomShape 1"/>
          <p:cNvSpPr/>
          <p:nvPr/>
        </p:nvSpPr>
        <p:spPr>
          <a:xfrm>
            <a:off x="0" y="-526680"/>
            <a:ext cx="21383280" cy="47955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2" name="CustomShape 2"/>
          <p:cNvSpPr/>
          <p:nvPr/>
        </p:nvSpPr>
        <p:spPr>
          <a:xfrm>
            <a:off x="0" y="27606240"/>
            <a:ext cx="21383280" cy="2848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3" name="PlaceHolder 3"/>
          <p:cNvSpPr>
            <a:spLocks noGrp="1"/>
          </p:cNvSpPr>
          <p:nvPr>
            <p:ph type="title"/>
          </p:nvPr>
        </p:nvSpPr>
        <p:spPr>
          <a:xfrm>
            <a:off x="963360" y="796680"/>
            <a:ext cx="19244880" cy="5055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pt-PT" sz="488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body"/>
          </p:nvPr>
        </p:nvSpPr>
        <p:spPr>
          <a:xfrm>
            <a:off x="1068840" y="7084080"/>
            <a:ext cx="19244880" cy="17559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6550" b="0" strike="noStrike" spc="-1" dirty="0" err="1">
                <a:solidFill>
                  <a:srgbClr val="000000"/>
                </a:solidFill>
                <a:latin typeface="Calibri"/>
              </a:rPr>
              <a:t>Click</a:t>
            </a:r>
            <a:r>
              <a:rPr lang="pt-PT" sz="6550" b="0" strike="noStrike" spc="-1" dirty="0">
                <a:solidFill>
                  <a:srgbClr val="000000"/>
                </a:solidFill>
                <a:latin typeface="Calibri"/>
              </a:rPr>
              <a:t> to </a:t>
            </a:r>
            <a:r>
              <a:rPr lang="pt-PT" sz="6550" b="0" strike="noStrike" spc="-1" dirty="0" err="1">
                <a:solidFill>
                  <a:srgbClr val="000000"/>
                </a:solidFill>
                <a:latin typeface="Calibri"/>
              </a:rPr>
              <a:t>edit</a:t>
            </a:r>
            <a:r>
              <a:rPr lang="pt-PT" sz="655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pt-PT" sz="6550" b="0" strike="noStrike" spc="-1" dirty="0" err="1">
                <a:solidFill>
                  <a:srgbClr val="000000"/>
                </a:solidFill>
                <a:latin typeface="Calibri"/>
              </a:rPr>
              <a:t>the</a:t>
            </a:r>
            <a:r>
              <a:rPr lang="pt-PT" sz="655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pt-PT" sz="6550" b="0" strike="noStrike" spc="-1" dirty="0" err="1">
                <a:solidFill>
                  <a:srgbClr val="000000"/>
                </a:solidFill>
                <a:latin typeface="Calibri"/>
              </a:rPr>
              <a:t>outline</a:t>
            </a:r>
            <a:r>
              <a:rPr lang="pt-PT" sz="655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pt-PT" sz="6550" b="0" strike="noStrike" spc="-1" dirty="0" err="1">
                <a:solidFill>
                  <a:srgbClr val="000000"/>
                </a:solidFill>
                <a:latin typeface="Calibri"/>
              </a:rPr>
              <a:t>text</a:t>
            </a:r>
            <a:r>
              <a:rPr lang="pt-PT" sz="655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pt-PT" sz="6550" b="0" strike="noStrike" spc="-1" dirty="0" err="1">
                <a:solidFill>
                  <a:srgbClr val="000000"/>
                </a:solidFill>
                <a:latin typeface="Calibri"/>
              </a:rPr>
              <a:t>format</a:t>
            </a:r>
            <a:endParaRPr lang="pt-PT" sz="6550" b="0" strike="noStrike" spc="-1" dirty="0">
              <a:solidFill>
                <a:srgbClr val="000000"/>
              </a:solidFill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PT" sz="4680" b="0" strike="noStrike" spc="-1" dirty="0" err="1">
                <a:solidFill>
                  <a:srgbClr val="000000"/>
                </a:solidFill>
                <a:latin typeface="Calibri"/>
              </a:rPr>
              <a:t>Second</a:t>
            </a:r>
            <a:r>
              <a:rPr lang="pt-PT" sz="468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pt-PT" sz="4680" b="0" strike="noStrike" spc="-1" dirty="0" err="1">
                <a:solidFill>
                  <a:srgbClr val="000000"/>
                </a:solidFill>
                <a:latin typeface="Calibri"/>
              </a:rPr>
              <a:t>Outline</a:t>
            </a:r>
            <a:r>
              <a:rPr lang="pt-PT" sz="468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pt-PT" sz="4680" b="0" strike="noStrike" spc="-1" dirty="0" err="1">
                <a:solidFill>
                  <a:srgbClr val="000000"/>
                </a:solidFill>
                <a:latin typeface="Calibri"/>
              </a:rPr>
              <a:t>Level</a:t>
            </a:r>
            <a:endParaRPr lang="pt-PT" sz="4680" b="0" strike="noStrike" spc="-1" dirty="0">
              <a:solidFill>
                <a:srgbClr val="000000"/>
              </a:solidFill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4210" b="0" strike="noStrike" spc="-1" dirty="0" err="1">
                <a:solidFill>
                  <a:srgbClr val="000000"/>
                </a:solidFill>
                <a:latin typeface="Calibri"/>
              </a:rPr>
              <a:t>Third</a:t>
            </a:r>
            <a:r>
              <a:rPr lang="pt-PT" sz="421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pt-PT" sz="4210" b="0" strike="noStrike" spc="-1" dirty="0" err="1">
                <a:solidFill>
                  <a:srgbClr val="000000"/>
                </a:solidFill>
                <a:latin typeface="Calibri"/>
              </a:rPr>
              <a:t>Outline</a:t>
            </a:r>
            <a:r>
              <a:rPr lang="pt-PT" sz="421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pt-PT" sz="4210" b="0" strike="noStrike" spc="-1" dirty="0" err="1">
                <a:solidFill>
                  <a:srgbClr val="000000"/>
                </a:solidFill>
                <a:latin typeface="Calibri"/>
              </a:rPr>
              <a:t>Level</a:t>
            </a:r>
            <a:endParaRPr lang="pt-PT" sz="4210" b="0" strike="noStrike" spc="-1" dirty="0">
              <a:solidFill>
                <a:srgbClr val="000000"/>
              </a:solidFill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PT" sz="4210" b="0" strike="noStrike" spc="-1" dirty="0" err="1">
                <a:solidFill>
                  <a:srgbClr val="000000"/>
                </a:solidFill>
                <a:latin typeface="Calibri"/>
              </a:rPr>
              <a:t>Fourth</a:t>
            </a:r>
            <a:r>
              <a:rPr lang="pt-PT" sz="421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pt-PT" sz="4210" b="0" strike="noStrike" spc="-1" dirty="0" err="1">
                <a:solidFill>
                  <a:srgbClr val="000000"/>
                </a:solidFill>
                <a:latin typeface="Calibri"/>
              </a:rPr>
              <a:t>Outline</a:t>
            </a:r>
            <a:r>
              <a:rPr lang="pt-PT" sz="421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pt-PT" sz="4210" b="0" strike="noStrike" spc="-1" dirty="0" err="1">
                <a:solidFill>
                  <a:srgbClr val="000000"/>
                </a:solidFill>
                <a:latin typeface="Calibri"/>
              </a:rPr>
              <a:t>Level</a:t>
            </a:r>
            <a:endParaRPr lang="pt-PT" sz="4210" b="0" strike="noStrike" spc="-1" dirty="0">
              <a:solidFill>
                <a:srgbClr val="000000"/>
              </a:solidFill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 dirty="0" err="1">
                <a:solidFill>
                  <a:srgbClr val="000000"/>
                </a:solidFill>
                <a:latin typeface="Calibri"/>
              </a:rPr>
              <a:t>Fifth</a:t>
            </a:r>
            <a:r>
              <a:rPr lang="pt-PT" sz="20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pt-PT" sz="2000" b="0" strike="noStrike" spc="-1" dirty="0" err="1">
                <a:solidFill>
                  <a:srgbClr val="000000"/>
                </a:solidFill>
                <a:latin typeface="Calibri"/>
              </a:rPr>
              <a:t>Outline</a:t>
            </a:r>
            <a:r>
              <a:rPr lang="pt-PT" sz="20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pt-PT" sz="2000" b="0" strike="noStrike" spc="-1" dirty="0" err="1">
                <a:solidFill>
                  <a:srgbClr val="000000"/>
                </a:solidFill>
                <a:latin typeface="Calibri"/>
              </a:rPr>
              <a:t>Level</a:t>
            </a:r>
            <a:endParaRPr lang="pt-PT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 dirty="0" err="1">
                <a:solidFill>
                  <a:srgbClr val="000000"/>
                </a:solidFill>
                <a:latin typeface="Calibri"/>
              </a:rPr>
              <a:t>Sixth</a:t>
            </a:r>
            <a:r>
              <a:rPr lang="pt-PT" sz="20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pt-PT" sz="2000" b="0" strike="noStrike" spc="-1" dirty="0" err="1">
                <a:solidFill>
                  <a:srgbClr val="000000"/>
                </a:solidFill>
                <a:latin typeface="Calibri"/>
              </a:rPr>
              <a:t>Outline</a:t>
            </a:r>
            <a:r>
              <a:rPr lang="pt-PT" sz="20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pt-PT" sz="2000" b="0" strike="noStrike" spc="-1" dirty="0" err="1">
                <a:solidFill>
                  <a:srgbClr val="000000"/>
                </a:solidFill>
                <a:latin typeface="Calibri"/>
              </a:rPr>
              <a:t>Level</a:t>
            </a:r>
            <a:endParaRPr lang="pt-PT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 dirty="0" err="1">
                <a:solidFill>
                  <a:srgbClr val="000000"/>
                </a:solidFill>
                <a:latin typeface="Calibri"/>
              </a:rPr>
              <a:t>Seventh</a:t>
            </a:r>
            <a:r>
              <a:rPr lang="pt-PT" sz="20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pt-PT" sz="2000" b="0" strike="noStrike" spc="-1" dirty="0" err="1">
                <a:solidFill>
                  <a:srgbClr val="000000"/>
                </a:solidFill>
                <a:latin typeface="Calibri"/>
              </a:rPr>
              <a:t>Outline</a:t>
            </a:r>
            <a:r>
              <a:rPr lang="pt-PT" sz="20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pt-PT" sz="2000" b="0" strike="noStrike" spc="-1" dirty="0" err="1">
                <a:solidFill>
                  <a:srgbClr val="000000"/>
                </a:solidFill>
                <a:latin typeface="Calibri"/>
              </a:rPr>
              <a:t>Level</a:t>
            </a:r>
            <a:endParaRPr lang="pt-PT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5" name="Imagem 4"/>
          <p:cNvPicPr/>
          <p:nvPr/>
        </p:nvPicPr>
        <p:blipFill>
          <a:blip r:embed="rId14"/>
          <a:stretch/>
        </p:blipFill>
        <p:spPr>
          <a:xfrm>
            <a:off x="616320" y="28163520"/>
            <a:ext cx="6241680" cy="1563120"/>
          </a:xfrm>
          <a:prstGeom prst="rect">
            <a:avLst/>
          </a:prstGeom>
          <a:ln>
            <a:noFill/>
          </a:ln>
        </p:spPr>
      </p:pic>
      <p:grpSp>
        <p:nvGrpSpPr>
          <p:cNvPr id="9" name="Agrupar 8">
            <a:extLst>
              <a:ext uri="{FF2B5EF4-FFF2-40B4-BE49-F238E27FC236}">
                <a16:creationId xmlns:a16="http://schemas.microsoft.com/office/drawing/2014/main" id="{69CCE331-124C-23E8-471C-2F61F24A16FC}"/>
              </a:ext>
            </a:extLst>
          </p:cNvPr>
          <p:cNvGrpSpPr/>
          <p:nvPr userDrawn="1"/>
        </p:nvGrpSpPr>
        <p:grpSpPr>
          <a:xfrm>
            <a:off x="1609725" y="572366"/>
            <a:ext cx="2924100" cy="2126284"/>
            <a:chOff x="2574925" y="1989507"/>
            <a:chExt cx="2924100" cy="2126284"/>
          </a:xfrm>
        </p:grpSpPr>
        <p:pic>
          <p:nvPicPr>
            <p:cNvPr id="10" name="Google Shape;46;p1">
              <a:extLst>
                <a:ext uri="{FF2B5EF4-FFF2-40B4-BE49-F238E27FC236}">
                  <a16:creationId xmlns:a16="http://schemas.microsoft.com/office/drawing/2014/main" id="{907D0F7A-BE22-5D95-E418-6E434B2AA304}"/>
                </a:ext>
              </a:extLst>
            </p:cNvPr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2574925" y="1989507"/>
              <a:ext cx="1438275" cy="14372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" name="Google Shape;47;p1">
              <a:extLst>
                <a:ext uri="{FF2B5EF4-FFF2-40B4-BE49-F238E27FC236}">
                  <a16:creationId xmlns:a16="http://schemas.microsoft.com/office/drawing/2014/main" id="{5EE73AE3-D960-A71A-32F3-891A29C5EA99}"/>
                </a:ext>
              </a:extLst>
            </p:cNvPr>
            <p:cNvSpPr txBox="1"/>
            <p:nvPr/>
          </p:nvSpPr>
          <p:spPr>
            <a:xfrm>
              <a:off x="2574925" y="3474391"/>
              <a:ext cx="1438200" cy="6414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0" tIns="33000" rIns="0" bIns="0" anchor="t" anchorCtr="0">
              <a:spAutoFit/>
            </a:bodyPr>
            <a:lstStyle/>
            <a:p>
              <a:pPr marL="432434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50"/>
                <a:buFont typeface="Arial"/>
                <a:buNone/>
              </a:pPr>
              <a:r>
                <a:rPr lang="pt-PT" sz="395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50</a:t>
              </a:r>
              <a:endParaRPr sz="39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48;p1">
              <a:extLst>
                <a:ext uri="{FF2B5EF4-FFF2-40B4-BE49-F238E27FC236}">
                  <a16:creationId xmlns:a16="http://schemas.microsoft.com/office/drawing/2014/main" id="{F48263CC-BC69-45C1-354C-2CC76851CACD}"/>
                </a:ext>
              </a:extLst>
            </p:cNvPr>
            <p:cNvSpPr txBox="1"/>
            <p:nvPr/>
          </p:nvSpPr>
          <p:spPr>
            <a:xfrm>
              <a:off x="4060825" y="1989507"/>
              <a:ext cx="1438200" cy="6402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0" tIns="31750" rIns="0" bIns="0" anchor="t" anchorCtr="0">
              <a:spAutoFit/>
            </a:bodyPr>
            <a:lstStyle/>
            <a:p>
              <a:pPr marL="433705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50"/>
                <a:buFont typeface="Arial"/>
                <a:buNone/>
              </a:pPr>
              <a:r>
                <a:rPr lang="pt-PT" sz="395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sz="39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49;p1">
              <a:extLst>
                <a:ext uri="{FF2B5EF4-FFF2-40B4-BE49-F238E27FC236}">
                  <a16:creationId xmlns:a16="http://schemas.microsoft.com/office/drawing/2014/main" id="{4A8B5F36-5782-9C5D-973F-4FF239463AAA}"/>
                </a:ext>
              </a:extLst>
            </p:cNvPr>
            <p:cNvSpPr txBox="1"/>
            <p:nvPr/>
          </p:nvSpPr>
          <p:spPr>
            <a:xfrm>
              <a:off x="4060825" y="2684323"/>
              <a:ext cx="1438200" cy="1114200"/>
            </a:xfrm>
            <a:prstGeom prst="rect">
              <a:avLst/>
            </a:prstGeom>
            <a:solidFill>
              <a:srgbClr val="007947"/>
            </a:solidFill>
            <a:ln>
              <a:noFill/>
            </a:ln>
          </p:spPr>
          <p:txBody>
            <a:bodyPr spcFirstLastPara="1" wrap="square" lIns="0" tIns="255250" rIns="0" bIns="0" anchor="t" anchorCtr="0">
              <a:spAutoFit/>
            </a:bodyPr>
            <a:lstStyle/>
            <a:p>
              <a:pPr marL="252095" marR="141605" lvl="0" indent="-104775" algn="l" rtl="0">
                <a:lnSpc>
                  <a:spcPct val="1022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50"/>
                <a:buFont typeface="Arial"/>
                <a:buNone/>
              </a:pPr>
              <a:r>
                <a:rPr lang="pt-PT" sz="275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Future Skills</a:t>
              </a:r>
              <a:endParaRPr sz="27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45;p1">
            <a:extLst>
              <a:ext uri="{FF2B5EF4-FFF2-40B4-BE49-F238E27FC236}">
                <a16:creationId xmlns:a16="http://schemas.microsoft.com/office/drawing/2014/main" id="{5110D3CC-B4A7-BD39-4054-2BB01AC7FA41}"/>
              </a:ext>
            </a:extLst>
          </p:cNvPr>
          <p:cNvSpPr txBox="1"/>
          <p:nvPr userDrawn="1"/>
        </p:nvSpPr>
        <p:spPr>
          <a:xfrm>
            <a:off x="6858000" y="1606688"/>
            <a:ext cx="12915900" cy="1314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PT" sz="3200" b="1" i="0" u="none" strike="noStrike" cap="none" dirty="0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LICENCIATURA EM ENGENHARIA SISTEMAS INFORMÁTICOS</a:t>
            </a:r>
            <a:endParaRPr lang="pt-PT" sz="3200" b="0" i="0" u="none" strike="noStrike" cap="none" dirty="0">
              <a:solidFill>
                <a:schemeClr val="accent1">
                  <a:lumMod val="5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3049905" lvl="0" indent="0" algn="l" rtl="0">
              <a:lnSpc>
                <a:spcPct val="132900"/>
              </a:lnSpc>
              <a:spcBef>
                <a:spcPts val="117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PT" sz="3200" b="0" i="0" u="none" strike="noStrike" cap="none" dirty="0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3ºano </a:t>
            </a:r>
            <a:r>
              <a:rPr lang="pt-PT" sz="3200" dirty="0">
                <a:solidFill>
                  <a:schemeClr val="accent1">
                    <a:lumMod val="50000"/>
                  </a:schemeClr>
                </a:solidFill>
              </a:rPr>
              <a:t>1</a:t>
            </a:r>
            <a:r>
              <a:rPr lang="pt-PT" sz="3200" b="0" i="0" u="none" strike="noStrike" cap="none" dirty="0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ºsemestre 2025/2026</a:t>
            </a:r>
          </a:p>
        </p:txBody>
      </p:sp>
      <p:pic>
        <p:nvPicPr>
          <p:cNvPr id="15" name="Google Shape;50;p1">
            <a:extLst>
              <a:ext uri="{FF2B5EF4-FFF2-40B4-BE49-F238E27FC236}">
                <a16:creationId xmlns:a16="http://schemas.microsoft.com/office/drawing/2014/main" id="{CE5325DC-75E3-8FBF-9474-E8662E50CC42}"/>
              </a:ext>
            </a:extLst>
          </p:cNvPr>
          <p:cNvPicPr preferRelativeResize="0"/>
          <p:nvPr userDrawn="1"/>
        </p:nvPicPr>
        <p:blipFill rotWithShape="1">
          <a:blip r:embed="rId16">
            <a:alphaModFix/>
          </a:blip>
          <a:srcRect/>
          <a:stretch/>
        </p:blipFill>
        <p:spPr>
          <a:xfrm>
            <a:off x="1501812" y="3286189"/>
            <a:ext cx="3187625" cy="83710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535" userDrawn="1">
          <p15:clr>
            <a:srgbClr val="F26B43"/>
          </p15:clr>
        </p15:guide>
        <p15:guide id="2" pos="673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CustomShape 1"/>
          <p:cNvSpPr/>
          <p:nvPr/>
        </p:nvSpPr>
        <p:spPr>
          <a:xfrm>
            <a:off x="1161000" y="4859640"/>
            <a:ext cx="6010920" cy="135770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7923" dir="4201013" sx="101000" sy="101000" algn="tl" rotWithShape="0">
              <a:schemeClr val="bg2">
                <a:lumMod val="75000"/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44" name="CustomShape 2"/>
          <p:cNvSpPr/>
          <p:nvPr/>
        </p:nvSpPr>
        <p:spPr>
          <a:xfrm>
            <a:off x="7686360" y="4859640"/>
            <a:ext cx="12451680" cy="59216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7923" dir="4201013" sx="101000" sy="101000" algn="tl" rotWithShape="0">
              <a:schemeClr val="bg2">
                <a:lumMod val="75000"/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45" name="CustomShape 3"/>
          <p:cNvSpPr/>
          <p:nvPr/>
        </p:nvSpPr>
        <p:spPr>
          <a:xfrm>
            <a:off x="7686360" y="11421360"/>
            <a:ext cx="12451680" cy="701496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7923" dir="4201013" sx="101000" sy="101000" algn="tl" rotWithShape="0">
              <a:schemeClr val="bg2">
                <a:lumMod val="75000"/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46" name="CustomShape 4"/>
          <p:cNvSpPr/>
          <p:nvPr/>
        </p:nvSpPr>
        <p:spPr>
          <a:xfrm>
            <a:off x="1161000" y="19076760"/>
            <a:ext cx="13273072" cy="805716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7923" dir="4201013" sx="101000" sy="101000" algn="tl" rotWithShape="0">
              <a:schemeClr val="bg2">
                <a:lumMod val="75000"/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47" name="CustomShape 5"/>
          <p:cNvSpPr/>
          <p:nvPr/>
        </p:nvSpPr>
        <p:spPr>
          <a:xfrm>
            <a:off x="14878800" y="19076760"/>
            <a:ext cx="5258880" cy="805716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7923" dir="4201013" sx="101000" sy="101000" algn="tl" rotWithShape="0">
              <a:schemeClr val="bg2">
                <a:lumMod val="75000"/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pt-PT"/>
          </a:p>
        </p:txBody>
      </p:sp>
      <p:pic>
        <p:nvPicPr>
          <p:cNvPr id="48" name="Imagem 21"/>
          <p:cNvPicPr/>
          <p:nvPr/>
        </p:nvPicPr>
        <p:blipFill>
          <a:blip r:embed="rId2"/>
          <a:stretch/>
        </p:blipFill>
        <p:spPr>
          <a:xfrm>
            <a:off x="8052840" y="11715840"/>
            <a:ext cx="304560" cy="367920"/>
          </a:xfrm>
          <a:prstGeom prst="rect">
            <a:avLst/>
          </a:prstGeom>
          <a:ln>
            <a:noFill/>
          </a:ln>
        </p:spPr>
      </p:pic>
      <p:pic>
        <p:nvPicPr>
          <p:cNvPr id="49" name="Imagem 22"/>
          <p:cNvPicPr/>
          <p:nvPr/>
        </p:nvPicPr>
        <p:blipFill>
          <a:blip r:embed="rId2"/>
          <a:stretch/>
        </p:blipFill>
        <p:spPr>
          <a:xfrm>
            <a:off x="8060760" y="5116320"/>
            <a:ext cx="304560" cy="367920"/>
          </a:xfrm>
          <a:prstGeom prst="rect">
            <a:avLst/>
          </a:prstGeom>
          <a:ln>
            <a:noFill/>
          </a:ln>
        </p:spPr>
      </p:pic>
      <p:pic>
        <p:nvPicPr>
          <p:cNvPr id="50" name="Imagem 23"/>
          <p:cNvPicPr/>
          <p:nvPr/>
        </p:nvPicPr>
        <p:blipFill>
          <a:blip r:embed="rId2"/>
          <a:stretch/>
        </p:blipFill>
        <p:spPr>
          <a:xfrm>
            <a:off x="1525680" y="5116320"/>
            <a:ext cx="304560" cy="367920"/>
          </a:xfrm>
          <a:prstGeom prst="rect">
            <a:avLst/>
          </a:prstGeom>
          <a:ln>
            <a:noFill/>
          </a:ln>
        </p:spPr>
      </p:pic>
      <p:pic>
        <p:nvPicPr>
          <p:cNvPr id="51" name="Imagem 24"/>
          <p:cNvPicPr/>
          <p:nvPr/>
        </p:nvPicPr>
        <p:blipFill>
          <a:blip r:embed="rId2"/>
          <a:stretch/>
        </p:blipFill>
        <p:spPr>
          <a:xfrm>
            <a:off x="1525680" y="19333080"/>
            <a:ext cx="304560" cy="367920"/>
          </a:xfrm>
          <a:prstGeom prst="rect">
            <a:avLst/>
          </a:prstGeom>
          <a:ln>
            <a:noFill/>
          </a:ln>
        </p:spPr>
      </p:pic>
      <p:sp>
        <p:nvSpPr>
          <p:cNvPr id="52" name="CustomShape 6"/>
          <p:cNvSpPr/>
          <p:nvPr/>
        </p:nvSpPr>
        <p:spPr>
          <a:xfrm>
            <a:off x="1951200" y="19208160"/>
            <a:ext cx="11679480" cy="6393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pt-PT" sz="3600" b="1" strike="noStrike" spc="-1" dirty="0">
                <a:solidFill>
                  <a:srgbClr val="004B87"/>
                </a:solidFill>
                <a:latin typeface="Calibri"/>
              </a:rPr>
              <a:t>RESULTADOS E CONCLUSÕES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54" name="CustomShape 8"/>
          <p:cNvSpPr/>
          <p:nvPr/>
        </p:nvSpPr>
        <p:spPr>
          <a:xfrm>
            <a:off x="8205120" y="20011680"/>
            <a:ext cx="5848511" cy="668159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42000" indent="-342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400" b="1" spc="-1" dirty="0">
                <a:solidFill>
                  <a:srgbClr val="004B87"/>
                </a:solidFill>
                <a:latin typeface="Calibri"/>
              </a:rPr>
              <a:t>Resultados:</a:t>
            </a:r>
            <a:r>
              <a:rPr lang="pt-PT" sz="2400" spc="-1" dirty="0">
                <a:solidFill>
                  <a:srgbClr val="004B87"/>
                </a:solidFill>
                <a:latin typeface="Calibri"/>
              </a:rPr>
              <a:t> App com autenticação e perfis, gestão de stock/doações com controlo de validades, gestão de beneficiários (documentos e estados) e cestas com reserva e agendamento. Website com dashboard, mapa e agendamento de doações.</a:t>
            </a:r>
          </a:p>
          <a:p>
            <a:pPr marL="342000" indent="-342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400" b="1" spc="-1" dirty="0">
                <a:solidFill>
                  <a:srgbClr val="004B87"/>
                </a:solidFill>
                <a:latin typeface="Calibri"/>
              </a:rPr>
              <a:t>Conclusões:</a:t>
            </a:r>
            <a:r>
              <a:rPr lang="pt-PT" sz="2400" spc="-1" dirty="0">
                <a:solidFill>
                  <a:srgbClr val="004B87"/>
                </a:solidFill>
                <a:latin typeface="Calibri"/>
              </a:rPr>
              <a:t> Centralização, mais eficiência e controlo. Automação/notificações, melhor resposta a urgências e validades. Futuro: testes com utilizadores, relatórios e reforço de permissões/segurança.</a:t>
            </a:r>
            <a:endParaRPr lang="en-US" sz="2400" spc="-1" dirty="0">
              <a:solidFill>
                <a:srgbClr val="004B87"/>
              </a:solidFill>
              <a:latin typeface="Calibri"/>
            </a:endParaRPr>
          </a:p>
        </p:txBody>
      </p:sp>
      <p:sp>
        <p:nvSpPr>
          <p:cNvPr id="55" name="CustomShape 9"/>
          <p:cNvSpPr/>
          <p:nvPr/>
        </p:nvSpPr>
        <p:spPr>
          <a:xfrm>
            <a:off x="8408160" y="11580120"/>
            <a:ext cx="11679480" cy="6393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pt-PT" sz="3600" b="1" spc="-1" dirty="0">
                <a:solidFill>
                  <a:srgbClr val="004B87"/>
                </a:solidFill>
                <a:latin typeface="Calibri"/>
              </a:rPr>
              <a:t>METODOLOGIA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56" name="CustomShape 10"/>
          <p:cNvSpPr/>
          <p:nvPr/>
        </p:nvSpPr>
        <p:spPr>
          <a:xfrm>
            <a:off x="1951200" y="5028480"/>
            <a:ext cx="4725720" cy="639360"/>
          </a:xfrm>
          <a:prstGeom prst="rect">
            <a:avLst/>
          </a:prstGeom>
          <a:solidFill>
            <a:schemeClr val="bg1">
              <a:alpha val="27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pt-PT" sz="3600" b="1" spc="-1" dirty="0">
                <a:solidFill>
                  <a:srgbClr val="004B87"/>
                </a:solidFill>
                <a:latin typeface="Calibri"/>
              </a:rPr>
              <a:t>ENQUADRAMENTO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57" name="CustomShape 11"/>
          <p:cNvSpPr/>
          <p:nvPr/>
        </p:nvSpPr>
        <p:spPr>
          <a:xfrm>
            <a:off x="8408160" y="5028480"/>
            <a:ext cx="4725720" cy="639360"/>
          </a:xfrm>
          <a:prstGeom prst="rect">
            <a:avLst/>
          </a:prstGeom>
          <a:solidFill>
            <a:schemeClr val="bg1">
              <a:alpha val="27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pt-PT" sz="3600" b="1" strike="noStrike" spc="-1" dirty="0">
                <a:solidFill>
                  <a:srgbClr val="004B87"/>
                </a:solidFill>
                <a:latin typeface="Calibri"/>
              </a:rPr>
              <a:t>OBJE</a:t>
            </a:r>
            <a:r>
              <a:rPr lang="pt-PT" sz="3600" b="1" spc="-1" dirty="0">
                <a:solidFill>
                  <a:srgbClr val="004B87"/>
                </a:solidFill>
                <a:latin typeface="Calibri"/>
              </a:rPr>
              <a:t>TIVOS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58" name="CustomShape 12"/>
          <p:cNvSpPr/>
          <p:nvPr/>
        </p:nvSpPr>
        <p:spPr>
          <a:xfrm>
            <a:off x="1525680" y="5771880"/>
            <a:ext cx="5151240" cy="1221919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indent="360000" algn="just">
              <a:lnSpc>
                <a:spcPct val="150000"/>
              </a:lnSpc>
            </a:pPr>
            <a:r>
              <a:rPr lang="pt-PT" sz="2400" b="0" strike="noStrike" spc="-1" dirty="0">
                <a:solidFill>
                  <a:srgbClr val="004B87"/>
                </a:solidFill>
                <a:latin typeface="Calibri"/>
              </a:rPr>
              <a:t>Os </a:t>
            </a:r>
            <a:r>
              <a:rPr lang="pt-PT" sz="2400" b="1" strike="noStrike" spc="-1" dirty="0">
                <a:solidFill>
                  <a:srgbClr val="004B87"/>
                </a:solidFill>
                <a:latin typeface="Calibri"/>
              </a:rPr>
              <a:t>Serviços de Ação Social do IPCA</a:t>
            </a:r>
            <a:r>
              <a:rPr lang="pt-PT" sz="2400" b="0" strike="noStrike" spc="-1" dirty="0">
                <a:solidFill>
                  <a:srgbClr val="004B87"/>
                </a:solidFill>
                <a:latin typeface="Calibri"/>
              </a:rPr>
              <a:t> (SAS-IPCA) apoiam estudantes em situação de vulnerabilidade através da </a:t>
            </a:r>
            <a:r>
              <a:rPr lang="pt-PT" sz="2400" b="1" strike="noStrike" spc="-1" dirty="0">
                <a:solidFill>
                  <a:srgbClr val="004B87"/>
                </a:solidFill>
                <a:latin typeface="Calibri"/>
              </a:rPr>
              <a:t>Loja Social</a:t>
            </a:r>
            <a:r>
              <a:rPr lang="pt-PT" sz="2400" b="0" strike="noStrike" spc="-1" dirty="0">
                <a:solidFill>
                  <a:srgbClr val="004B87"/>
                </a:solidFill>
                <a:latin typeface="Calibri"/>
              </a:rPr>
              <a:t>, promovendo solidariedade, sustentabilidade e economia circular.</a:t>
            </a:r>
          </a:p>
          <a:p>
            <a:pPr indent="360000" algn="just">
              <a:lnSpc>
                <a:spcPct val="150000"/>
              </a:lnSpc>
            </a:pPr>
            <a:r>
              <a:rPr lang="pt-PT" sz="2400" b="0" strike="noStrike" spc="-1" dirty="0">
                <a:solidFill>
                  <a:srgbClr val="004B87"/>
                </a:solidFill>
                <a:latin typeface="Calibri"/>
              </a:rPr>
              <a:t>A gestão de doações, inventário e atribuição de apoios é frequentemente feita de forma manual ou com informação dispersa, originando dificuldades no </a:t>
            </a:r>
            <a:r>
              <a:rPr lang="pt-PT" sz="2400" b="1" strike="noStrike" spc="-1" dirty="0">
                <a:solidFill>
                  <a:srgbClr val="004B87"/>
                </a:solidFill>
                <a:latin typeface="Calibri"/>
              </a:rPr>
              <a:t>controlo de stock</a:t>
            </a:r>
            <a:r>
              <a:rPr lang="pt-PT" sz="2400" b="0" strike="noStrike" spc="-1" dirty="0">
                <a:solidFill>
                  <a:srgbClr val="004B87"/>
                </a:solidFill>
                <a:latin typeface="Calibri"/>
              </a:rPr>
              <a:t>, </a:t>
            </a:r>
            <a:r>
              <a:rPr lang="pt-PT" sz="2400" b="1" strike="noStrike" spc="-1" dirty="0">
                <a:solidFill>
                  <a:srgbClr val="004B87"/>
                </a:solidFill>
                <a:latin typeface="Calibri"/>
              </a:rPr>
              <a:t>atrasos</a:t>
            </a:r>
            <a:r>
              <a:rPr lang="pt-PT" sz="2400" b="0" strike="noStrike" spc="-1" dirty="0">
                <a:solidFill>
                  <a:srgbClr val="004B87"/>
                </a:solidFill>
                <a:latin typeface="Calibri"/>
              </a:rPr>
              <a:t> e </a:t>
            </a:r>
            <a:r>
              <a:rPr lang="pt-PT" sz="2400" b="1" strike="noStrike" spc="-1" dirty="0">
                <a:solidFill>
                  <a:srgbClr val="004B87"/>
                </a:solidFill>
                <a:latin typeface="Calibri"/>
              </a:rPr>
              <a:t>menor rastreabilidade</a:t>
            </a:r>
            <a:r>
              <a:rPr lang="pt-PT" sz="2400" b="0" strike="noStrike" spc="-1" dirty="0">
                <a:solidFill>
                  <a:srgbClr val="004B87"/>
                </a:solidFill>
                <a:latin typeface="Calibri"/>
              </a:rPr>
              <a:t>.</a:t>
            </a:r>
          </a:p>
          <a:p>
            <a:pPr indent="360000" algn="just">
              <a:lnSpc>
                <a:spcPct val="150000"/>
              </a:lnSpc>
            </a:pPr>
            <a:r>
              <a:rPr lang="pt-PT" sz="2400" b="0" strike="noStrike" spc="-1" dirty="0">
                <a:solidFill>
                  <a:srgbClr val="004B87"/>
                </a:solidFill>
                <a:latin typeface="Calibri"/>
              </a:rPr>
              <a:t>Este projeto propõe uma solução digital para centralizar processos, melhorar a eficiência e dar suporte à decisão.</a:t>
            </a:r>
          </a:p>
          <a:p>
            <a:pPr indent="360000" algn="just">
              <a:lnSpc>
                <a:spcPct val="150000"/>
              </a:lnSpc>
            </a:pPr>
            <a:r>
              <a:rPr lang="pt-PT" sz="2400" b="0" strike="noStrike" spc="-1" dirty="0">
                <a:solidFill>
                  <a:srgbClr val="004B87"/>
                </a:solidFill>
                <a:latin typeface="Calibri"/>
              </a:rPr>
              <a:t>A solução integra: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400" b="1" strike="noStrike" spc="-1" dirty="0">
                <a:solidFill>
                  <a:srgbClr val="004B87"/>
                </a:solidFill>
                <a:latin typeface="Calibri"/>
              </a:rPr>
              <a:t>App Android</a:t>
            </a:r>
            <a:r>
              <a:rPr lang="pt-PT" sz="2400" b="0" strike="noStrike" spc="-1" dirty="0">
                <a:solidFill>
                  <a:srgbClr val="004B87"/>
                </a:solidFill>
                <a:latin typeface="Calibri"/>
              </a:rPr>
              <a:t> para beneficiários e colaboradores (gestão interna e pedidos);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400" b="1" strike="noStrike" spc="-1" dirty="0">
                <a:solidFill>
                  <a:srgbClr val="004B87"/>
                </a:solidFill>
                <a:latin typeface="Calibri"/>
              </a:rPr>
              <a:t>Website informativo</a:t>
            </a:r>
            <a:r>
              <a:rPr lang="pt-PT" sz="2400" b="0" strike="noStrike" spc="-1" dirty="0">
                <a:solidFill>
                  <a:srgbClr val="004B87"/>
                </a:solidFill>
                <a:latin typeface="Calibri"/>
              </a:rPr>
              <a:t> para promover campanhas e facilitar a participação da comunidade.</a:t>
            </a:r>
            <a:endParaRPr lang="en-US" sz="2400" b="0" strike="noStrike" spc="-1" dirty="0">
              <a:latin typeface="Arial"/>
            </a:endParaRPr>
          </a:p>
        </p:txBody>
      </p:sp>
      <p:sp>
        <p:nvSpPr>
          <p:cNvPr id="59" name="CustomShape 13"/>
          <p:cNvSpPr/>
          <p:nvPr/>
        </p:nvSpPr>
        <p:spPr>
          <a:xfrm>
            <a:off x="7918200" y="12355894"/>
            <a:ext cx="11842560" cy="557122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342000" indent="-342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400" b="1" strike="noStrike" spc="-1" dirty="0">
                <a:solidFill>
                  <a:srgbClr val="004B87"/>
                </a:solidFill>
                <a:latin typeface="Calibri"/>
              </a:rPr>
              <a:t>SCRUM</a:t>
            </a:r>
            <a:r>
              <a:rPr lang="pt-PT" sz="2400" b="0" strike="noStrike" spc="-1" dirty="0">
                <a:solidFill>
                  <a:srgbClr val="004B87"/>
                </a:solidFill>
                <a:latin typeface="Calibri"/>
              </a:rPr>
              <a:t> para gestão ágil (sprints, </a:t>
            </a:r>
            <a:r>
              <a:rPr lang="pt-PT" sz="2400" b="0" strike="noStrike" spc="-1" dirty="0" err="1">
                <a:solidFill>
                  <a:srgbClr val="004B87"/>
                </a:solidFill>
                <a:latin typeface="Calibri"/>
              </a:rPr>
              <a:t>backlog</a:t>
            </a:r>
            <a:r>
              <a:rPr lang="pt-PT" sz="2400" b="0" strike="noStrike" spc="-1" dirty="0">
                <a:solidFill>
                  <a:srgbClr val="004B87"/>
                </a:solidFill>
                <a:latin typeface="Calibri"/>
              </a:rPr>
              <a:t> e tarefas) com acompanhamento no </a:t>
            </a:r>
            <a:r>
              <a:rPr lang="pt-PT" sz="2400" b="0" strike="noStrike" spc="-1" dirty="0" err="1">
                <a:solidFill>
                  <a:srgbClr val="004B87"/>
                </a:solidFill>
                <a:latin typeface="Calibri"/>
              </a:rPr>
              <a:t>YouTrack</a:t>
            </a:r>
            <a:r>
              <a:rPr lang="pt-PT" sz="2400" b="0" strike="noStrike" spc="-1" dirty="0">
                <a:solidFill>
                  <a:srgbClr val="004B87"/>
                </a:solidFill>
                <a:latin typeface="Calibri"/>
              </a:rPr>
              <a:t>.</a:t>
            </a:r>
          </a:p>
          <a:p>
            <a:pPr marL="342000" indent="-342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400" b="0" strike="noStrike" spc="-1" dirty="0">
                <a:solidFill>
                  <a:srgbClr val="004B87"/>
                </a:solidFill>
                <a:latin typeface="Calibri"/>
              </a:rPr>
              <a:t>Levantamento de </a:t>
            </a:r>
            <a:r>
              <a:rPr lang="pt-PT" sz="2400" b="1" strike="noStrike" spc="-1" dirty="0">
                <a:solidFill>
                  <a:srgbClr val="004B87"/>
                </a:solidFill>
                <a:latin typeface="Calibri"/>
              </a:rPr>
              <a:t>requisitos</a:t>
            </a:r>
            <a:r>
              <a:rPr lang="pt-PT" sz="2400" b="0" strike="noStrike" spc="-1" dirty="0">
                <a:solidFill>
                  <a:srgbClr val="004B87"/>
                </a:solidFill>
                <a:latin typeface="Calibri"/>
              </a:rPr>
              <a:t> e validação periódica com os SAS/Loja Social (reuniões de acompanhamento).</a:t>
            </a:r>
          </a:p>
          <a:p>
            <a:pPr marL="342000" indent="-342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400" b="1" strike="noStrike" spc="-1" dirty="0">
                <a:solidFill>
                  <a:srgbClr val="004B87"/>
                </a:solidFill>
                <a:latin typeface="Calibri"/>
              </a:rPr>
              <a:t>Modelação</a:t>
            </a:r>
            <a:r>
              <a:rPr lang="pt-PT" sz="2400" b="0" strike="noStrike" spc="-1" dirty="0">
                <a:solidFill>
                  <a:srgbClr val="004B87"/>
                </a:solidFill>
                <a:latin typeface="Calibri"/>
              </a:rPr>
              <a:t> e desenho da solução (UML/diagramas) com apoio do Visual </a:t>
            </a:r>
            <a:r>
              <a:rPr lang="pt-PT" sz="2400" b="0" strike="noStrike" spc="-1" dirty="0" err="1">
                <a:solidFill>
                  <a:srgbClr val="004B87"/>
                </a:solidFill>
                <a:latin typeface="Calibri"/>
              </a:rPr>
              <a:t>Paradigm</a:t>
            </a:r>
            <a:r>
              <a:rPr lang="pt-PT" sz="2400" b="0" strike="noStrike" spc="-1" dirty="0">
                <a:solidFill>
                  <a:srgbClr val="004B87"/>
                </a:solidFill>
                <a:latin typeface="Calibri"/>
              </a:rPr>
              <a:t>.</a:t>
            </a:r>
          </a:p>
          <a:p>
            <a:pPr marL="342000" indent="-342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400" b="1" strike="noStrike" spc="-1" dirty="0" err="1">
                <a:solidFill>
                  <a:srgbClr val="004B87"/>
                </a:solidFill>
                <a:latin typeface="Calibri"/>
              </a:rPr>
              <a:t>Mockups</a:t>
            </a:r>
            <a:r>
              <a:rPr lang="pt-PT" sz="2400" b="0" strike="noStrike" spc="-1" dirty="0">
                <a:solidFill>
                  <a:srgbClr val="004B87"/>
                </a:solidFill>
                <a:latin typeface="Calibri"/>
              </a:rPr>
              <a:t> no </a:t>
            </a:r>
            <a:r>
              <a:rPr lang="pt-PT" sz="2400" b="0" strike="noStrike" spc="-1" dirty="0" err="1">
                <a:solidFill>
                  <a:srgbClr val="004B87"/>
                </a:solidFill>
                <a:latin typeface="Calibri"/>
              </a:rPr>
              <a:t>Figma</a:t>
            </a:r>
            <a:r>
              <a:rPr lang="pt-PT" sz="2400" b="0" strike="noStrike" spc="-1" dirty="0">
                <a:solidFill>
                  <a:srgbClr val="004B87"/>
                </a:solidFill>
                <a:latin typeface="Calibri"/>
              </a:rPr>
              <a:t>, definindo fluxos por perfil (Beneficiário e Colaborador).</a:t>
            </a:r>
          </a:p>
          <a:p>
            <a:pPr marL="342000" indent="-342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400" b="0" strike="noStrike" spc="-1" dirty="0">
                <a:solidFill>
                  <a:srgbClr val="004B87"/>
                </a:solidFill>
                <a:latin typeface="Calibri"/>
              </a:rPr>
              <a:t>Implementação incremental: App Android (</a:t>
            </a:r>
            <a:r>
              <a:rPr lang="pt-PT" sz="2400" b="0" strike="noStrike" spc="-1" dirty="0" err="1">
                <a:solidFill>
                  <a:srgbClr val="004B87"/>
                </a:solidFill>
                <a:latin typeface="Calibri"/>
              </a:rPr>
              <a:t>Kotlin</a:t>
            </a:r>
            <a:r>
              <a:rPr lang="pt-PT" sz="2400" b="0" strike="noStrike" spc="-1" dirty="0">
                <a:solidFill>
                  <a:srgbClr val="004B87"/>
                </a:solidFill>
                <a:latin typeface="Calibri"/>
              </a:rPr>
              <a:t> + Jetpack </a:t>
            </a:r>
            <a:r>
              <a:rPr lang="pt-PT" sz="2400" b="0" strike="noStrike" spc="-1" dirty="0" err="1">
                <a:solidFill>
                  <a:srgbClr val="004B87"/>
                </a:solidFill>
                <a:latin typeface="Calibri"/>
              </a:rPr>
              <a:t>Compose</a:t>
            </a:r>
            <a:r>
              <a:rPr lang="pt-PT" sz="2400" b="0" strike="noStrike" spc="-1" dirty="0">
                <a:solidFill>
                  <a:srgbClr val="004B87"/>
                </a:solidFill>
                <a:latin typeface="Calibri"/>
              </a:rPr>
              <a:t>) e Website (</a:t>
            </a:r>
            <a:r>
              <a:rPr lang="pt-PT" sz="2400" b="0" strike="noStrike" spc="-1" dirty="0" err="1">
                <a:solidFill>
                  <a:srgbClr val="004B87"/>
                </a:solidFill>
                <a:latin typeface="Calibri"/>
              </a:rPr>
              <a:t>React</a:t>
            </a:r>
            <a:r>
              <a:rPr lang="pt-PT" sz="2400" b="0" strike="noStrike" spc="-1" dirty="0">
                <a:solidFill>
                  <a:srgbClr val="004B87"/>
                </a:solidFill>
                <a:latin typeface="Calibri"/>
              </a:rPr>
              <a:t> + </a:t>
            </a:r>
            <a:r>
              <a:rPr lang="pt-PT" sz="2400" b="0" strike="noStrike" spc="-1" dirty="0" err="1">
                <a:solidFill>
                  <a:srgbClr val="004B87"/>
                </a:solidFill>
                <a:latin typeface="Calibri"/>
              </a:rPr>
              <a:t>Vite</a:t>
            </a:r>
            <a:r>
              <a:rPr lang="pt-PT" sz="2400" b="0" strike="noStrike" spc="-1" dirty="0">
                <a:solidFill>
                  <a:srgbClr val="004B87"/>
                </a:solidFill>
                <a:latin typeface="Calibri"/>
              </a:rPr>
              <a:t>) integrados no </a:t>
            </a:r>
            <a:r>
              <a:rPr lang="pt-PT" sz="2400" b="0" strike="noStrike" spc="-1" dirty="0" err="1">
                <a:solidFill>
                  <a:srgbClr val="004B87"/>
                </a:solidFill>
                <a:latin typeface="Calibri"/>
              </a:rPr>
              <a:t>Firebase</a:t>
            </a:r>
            <a:r>
              <a:rPr lang="pt-PT" sz="2400" b="0" strike="noStrike" spc="-1" dirty="0">
                <a:solidFill>
                  <a:srgbClr val="004B87"/>
                </a:solidFill>
                <a:latin typeface="Calibri"/>
              </a:rPr>
              <a:t> (</a:t>
            </a:r>
            <a:r>
              <a:rPr lang="pt-PT" sz="2400" b="0" strike="noStrike" spc="-1" dirty="0" err="1">
                <a:solidFill>
                  <a:srgbClr val="004B87"/>
                </a:solidFill>
                <a:latin typeface="Calibri"/>
              </a:rPr>
              <a:t>Auth</a:t>
            </a:r>
            <a:r>
              <a:rPr lang="pt-PT" sz="2400" b="0" strike="noStrike" spc="-1" dirty="0">
                <a:solidFill>
                  <a:srgbClr val="004B87"/>
                </a:solidFill>
                <a:latin typeface="Calibri"/>
              </a:rPr>
              <a:t>, Firestore, </a:t>
            </a:r>
            <a:r>
              <a:rPr lang="pt-PT" sz="2400" b="0" strike="noStrike" spc="-1" dirty="0" err="1">
                <a:solidFill>
                  <a:srgbClr val="004B87"/>
                </a:solidFill>
                <a:latin typeface="Calibri"/>
              </a:rPr>
              <a:t>Storage</a:t>
            </a:r>
            <a:r>
              <a:rPr lang="pt-PT" sz="2400" b="0" strike="noStrike" spc="-1" dirty="0">
                <a:solidFill>
                  <a:srgbClr val="004B87"/>
                </a:solidFill>
                <a:latin typeface="Calibri"/>
              </a:rPr>
              <a:t>).</a:t>
            </a:r>
          </a:p>
          <a:p>
            <a:pPr marL="342000" indent="-342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400" b="0" strike="noStrike" spc="-1" dirty="0">
                <a:solidFill>
                  <a:srgbClr val="004B87"/>
                </a:solidFill>
                <a:latin typeface="Calibri"/>
              </a:rPr>
              <a:t>Automação e </a:t>
            </a:r>
            <a:r>
              <a:rPr lang="pt-PT" sz="2400" b="1" strike="noStrike" spc="-1" dirty="0">
                <a:solidFill>
                  <a:srgbClr val="004B87"/>
                </a:solidFill>
                <a:latin typeface="Calibri"/>
              </a:rPr>
              <a:t>notificações</a:t>
            </a:r>
            <a:r>
              <a:rPr lang="pt-PT" sz="2400" b="0" strike="noStrike" spc="-1" dirty="0">
                <a:solidFill>
                  <a:srgbClr val="004B87"/>
                </a:solidFill>
                <a:latin typeface="Calibri"/>
              </a:rPr>
              <a:t> em tempo real com </a:t>
            </a:r>
            <a:r>
              <a:rPr lang="pt-PT" sz="2400" b="0" strike="noStrike" spc="-1" dirty="0" err="1">
                <a:solidFill>
                  <a:srgbClr val="004B87"/>
                </a:solidFill>
                <a:latin typeface="Calibri"/>
              </a:rPr>
              <a:t>Firebase</a:t>
            </a:r>
            <a:r>
              <a:rPr lang="pt-PT" sz="2400" b="0" strike="noStrike" spc="-1" dirty="0">
                <a:solidFill>
                  <a:srgbClr val="004B87"/>
                </a:solidFill>
                <a:latin typeface="Calibri"/>
              </a:rPr>
              <a:t> </a:t>
            </a:r>
            <a:r>
              <a:rPr lang="pt-PT" sz="2400" b="0" strike="noStrike" spc="-1" dirty="0" err="1">
                <a:solidFill>
                  <a:srgbClr val="004B87"/>
                </a:solidFill>
                <a:latin typeface="Calibri"/>
              </a:rPr>
              <a:t>Cloud</a:t>
            </a:r>
            <a:r>
              <a:rPr lang="pt-PT" sz="2400" b="0" strike="noStrike" spc="-1" dirty="0">
                <a:solidFill>
                  <a:srgbClr val="004B87"/>
                </a:solidFill>
                <a:latin typeface="Calibri"/>
              </a:rPr>
              <a:t> </a:t>
            </a:r>
            <a:r>
              <a:rPr lang="pt-PT" sz="2400" b="0" strike="noStrike" spc="-1" dirty="0" err="1">
                <a:solidFill>
                  <a:srgbClr val="004B87"/>
                </a:solidFill>
                <a:latin typeface="Calibri"/>
              </a:rPr>
              <a:t>Functions</a:t>
            </a:r>
            <a:r>
              <a:rPr lang="pt-PT" sz="2400" b="0" strike="noStrike" spc="-1" dirty="0">
                <a:solidFill>
                  <a:srgbClr val="004B87"/>
                </a:solidFill>
                <a:latin typeface="Calibri"/>
              </a:rPr>
              <a:t> (</a:t>
            </a:r>
            <a:r>
              <a:rPr lang="pt-PT" sz="2400" b="0" strike="noStrike" spc="-1" dirty="0" err="1">
                <a:solidFill>
                  <a:srgbClr val="004B87"/>
                </a:solidFill>
                <a:latin typeface="Calibri"/>
              </a:rPr>
              <a:t>triggers</a:t>
            </a:r>
            <a:r>
              <a:rPr lang="pt-PT" sz="2400" b="0" strike="noStrike" spc="-1" dirty="0">
                <a:solidFill>
                  <a:srgbClr val="004B87"/>
                </a:solidFill>
                <a:latin typeface="Calibri"/>
              </a:rPr>
              <a:t> Firestore + </a:t>
            </a:r>
            <a:r>
              <a:rPr lang="pt-PT" sz="2400" b="0" strike="noStrike" spc="-1" dirty="0" err="1">
                <a:solidFill>
                  <a:srgbClr val="004B87"/>
                </a:solidFill>
                <a:latin typeface="Calibri"/>
              </a:rPr>
              <a:t>schedules</a:t>
            </a:r>
            <a:r>
              <a:rPr lang="pt-PT" sz="2400" b="0" strike="noStrike" spc="-1" dirty="0">
                <a:solidFill>
                  <a:srgbClr val="004B87"/>
                </a:solidFill>
                <a:latin typeface="Calibri"/>
              </a:rPr>
              <a:t>) e FCM: alertas de validade/stock, mudanças de estado e lembretes/entregas.</a:t>
            </a:r>
          </a:p>
          <a:p>
            <a:pPr marL="342000" indent="-342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400" b="0" strike="noStrike" spc="-1" dirty="0">
                <a:solidFill>
                  <a:srgbClr val="004B87"/>
                </a:solidFill>
                <a:latin typeface="Calibri"/>
              </a:rPr>
              <a:t>Controlo de versões contínuo com GitHub.</a:t>
            </a:r>
            <a:endParaRPr lang="en-US" sz="2400" b="0" strike="noStrike" spc="-1" dirty="0">
              <a:latin typeface="Arial"/>
            </a:endParaRPr>
          </a:p>
        </p:txBody>
      </p:sp>
      <p:sp>
        <p:nvSpPr>
          <p:cNvPr id="61" name="CustomShape 15"/>
          <p:cNvSpPr/>
          <p:nvPr/>
        </p:nvSpPr>
        <p:spPr>
          <a:xfrm>
            <a:off x="7918200" y="5695560"/>
            <a:ext cx="5712120" cy="446560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sz="2400" b="0" strike="noStrike" spc="-1" dirty="0">
                <a:solidFill>
                  <a:srgbClr val="004B8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Objetivo geral e objetivos específicos:</a:t>
            </a:r>
          </a:p>
          <a:p>
            <a:pPr marL="457200" indent="-456840" algn="just">
              <a:lnSpc>
                <a:spcPct val="150000"/>
              </a:lnSpc>
              <a:buClr>
                <a:srgbClr val="004B87"/>
              </a:buClr>
              <a:buFont typeface="Calibri Light"/>
              <a:buAutoNum type="arabicPeriod"/>
            </a:pPr>
            <a:r>
              <a:rPr lang="pt-PT" sz="2400" b="0" strike="noStrike" spc="-1" dirty="0">
                <a:solidFill>
                  <a:srgbClr val="004B8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Gestão de beneficiários;</a:t>
            </a:r>
          </a:p>
          <a:p>
            <a:pPr marL="457200" indent="-456840" algn="just">
              <a:lnSpc>
                <a:spcPct val="150000"/>
              </a:lnSpc>
              <a:buClr>
                <a:srgbClr val="004B87"/>
              </a:buClr>
              <a:buFont typeface="Calibri Light"/>
              <a:buAutoNum type="arabicPeriod"/>
            </a:pPr>
            <a:r>
              <a:rPr lang="pt-PT" sz="2400" b="0" strike="noStrike" spc="-1" dirty="0">
                <a:solidFill>
                  <a:srgbClr val="004B8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Gestão de inventário/stock;</a:t>
            </a:r>
          </a:p>
          <a:p>
            <a:pPr marL="457200" indent="-456840" algn="just">
              <a:lnSpc>
                <a:spcPct val="150000"/>
              </a:lnSpc>
              <a:buClr>
                <a:srgbClr val="004B87"/>
              </a:buClr>
              <a:buFont typeface="Calibri Light"/>
              <a:buAutoNum type="arabicPeriod"/>
            </a:pPr>
            <a:r>
              <a:rPr lang="pt-PT" sz="2400" b="0" strike="noStrike" spc="-1" dirty="0">
                <a:solidFill>
                  <a:srgbClr val="004B8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Gestão de campanhas;</a:t>
            </a:r>
          </a:p>
          <a:p>
            <a:pPr marL="457200" indent="-456840" algn="just">
              <a:lnSpc>
                <a:spcPct val="150000"/>
              </a:lnSpc>
              <a:buClr>
                <a:srgbClr val="004B87"/>
              </a:buClr>
              <a:buFont typeface="Calibri Light"/>
              <a:buAutoNum type="arabicPeriod"/>
            </a:pPr>
            <a:r>
              <a:rPr lang="pt-PT" sz="2400" b="0" strike="noStrike" spc="-1" dirty="0">
                <a:solidFill>
                  <a:srgbClr val="004B8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Gestão de apoios (cestas);</a:t>
            </a:r>
          </a:p>
          <a:p>
            <a:pPr marL="457200" indent="-456840" algn="just">
              <a:lnSpc>
                <a:spcPct val="150000"/>
              </a:lnSpc>
              <a:buClr>
                <a:srgbClr val="004B87"/>
              </a:buClr>
              <a:buFont typeface="Calibri Light"/>
              <a:buAutoNum type="arabicPeriod"/>
            </a:pPr>
            <a:r>
              <a:rPr lang="pt-PT" sz="2400" b="0" strike="noStrike" spc="-1" dirty="0">
                <a:solidFill>
                  <a:srgbClr val="004B8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Submissão e validação de documentos;</a:t>
            </a:r>
          </a:p>
          <a:p>
            <a:pPr marL="457200" indent="-456840" algn="just">
              <a:lnSpc>
                <a:spcPct val="150000"/>
              </a:lnSpc>
              <a:buClr>
                <a:srgbClr val="004B87"/>
              </a:buClr>
              <a:buFont typeface="Calibri Light"/>
              <a:buAutoNum type="arabicPeriod"/>
            </a:pPr>
            <a:r>
              <a:rPr lang="pt-PT" sz="2400" b="0" strike="noStrike" spc="-1" dirty="0">
                <a:solidFill>
                  <a:srgbClr val="004B8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Pedidos urgentes e comunicação rápida entre beneficiário e SAS.</a:t>
            </a:r>
            <a:endParaRPr lang="en-US" sz="2400" b="0" strike="noStrike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2" name="Imagem 38"/>
          <p:cNvPicPr/>
          <p:nvPr/>
        </p:nvPicPr>
        <p:blipFill>
          <a:blip r:embed="rId2"/>
          <a:stretch/>
        </p:blipFill>
        <p:spPr>
          <a:xfrm>
            <a:off x="15224272" y="19333080"/>
            <a:ext cx="304560" cy="367920"/>
          </a:xfrm>
          <a:prstGeom prst="rect">
            <a:avLst/>
          </a:prstGeom>
          <a:ln>
            <a:noFill/>
          </a:ln>
        </p:spPr>
      </p:pic>
      <p:sp>
        <p:nvSpPr>
          <p:cNvPr id="63" name="CustomShape 16"/>
          <p:cNvSpPr/>
          <p:nvPr/>
        </p:nvSpPr>
        <p:spPr>
          <a:xfrm>
            <a:off x="15637154" y="19197360"/>
            <a:ext cx="4450486" cy="6393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pt-PT" sz="3600" b="1" spc="-1" dirty="0">
                <a:solidFill>
                  <a:srgbClr val="004B87"/>
                </a:solidFill>
                <a:latin typeface="Calibri"/>
              </a:rPr>
              <a:t>BIBLIOGRAFIA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64" name="CustomShape 17"/>
          <p:cNvSpPr/>
          <p:nvPr/>
        </p:nvSpPr>
        <p:spPr>
          <a:xfrm>
            <a:off x="6733372" y="504046"/>
            <a:ext cx="13664782" cy="3700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ts val="6100"/>
              </a:lnSpc>
            </a:pPr>
            <a:r>
              <a:rPr lang="pt-PT" sz="6400" b="1" strike="noStrike" spc="-1" dirty="0">
                <a:solidFill>
                  <a:srgbClr val="004B87"/>
                </a:solidFill>
                <a:latin typeface="Calibri"/>
              </a:rPr>
              <a:t>Loja Social IPCA: Aplicação Móvel</a:t>
            </a:r>
          </a:p>
          <a:p>
            <a:pPr>
              <a:lnSpc>
                <a:spcPts val="6100"/>
              </a:lnSpc>
            </a:pPr>
            <a:endParaRPr lang="pt-PT" sz="6400" b="1" spc="-1" dirty="0">
              <a:solidFill>
                <a:srgbClr val="004B87"/>
              </a:solidFill>
              <a:latin typeface="Calibri"/>
            </a:endParaRPr>
          </a:p>
          <a:p>
            <a:pPr>
              <a:lnSpc>
                <a:spcPts val="6100"/>
              </a:lnSpc>
            </a:pPr>
            <a:endParaRPr lang="pt-PT" sz="6400" b="1" strike="noStrike" spc="-1" dirty="0">
              <a:solidFill>
                <a:srgbClr val="004B87"/>
              </a:solidFill>
              <a:latin typeface="Calibri"/>
            </a:endParaRPr>
          </a:p>
          <a:p>
            <a:pPr>
              <a:lnSpc>
                <a:spcPts val="6100"/>
              </a:lnSpc>
            </a:pPr>
            <a:r>
              <a:rPr lang="pt-PT" sz="3200" b="1" spc="-1" dirty="0">
                <a:solidFill>
                  <a:srgbClr val="004B87"/>
                </a:solidFill>
                <a:latin typeface="Calibri"/>
              </a:rPr>
              <a:t>Fábio Fernandes, Fábio Costa, Luís Freitas, Lino Azevedo, Gonçalo Gonçalves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ts val="3900"/>
              </a:lnSpc>
            </a:pPr>
            <a:r>
              <a:rPr lang="pt-PT" sz="3200" spc="-1" dirty="0">
                <a:solidFill>
                  <a:srgbClr val="004B87"/>
                </a:solidFill>
                <a:latin typeface="Calibri"/>
              </a:rPr>
              <a:t>Supervisores: Patrícia </a:t>
            </a:r>
            <a:r>
              <a:rPr lang="pt-PT" sz="3200" b="0" strike="noStrike" spc="-1" dirty="0">
                <a:solidFill>
                  <a:srgbClr val="004B87"/>
                </a:solidFill>
                <a:latin typeface="Calibri"/>
              </a:rPr>
              <a:t>Leite, Lourenço Gomes</a:t>
            </a:r>
            <a:endParaRPr lang="en-US" sz="3200" b="0" strike="noStrike" spc="-1" dirty="0">
              <a:latin typeface="Arial"/>
            </a:endParaRPr>
          </a:p>
        </p:txBody>
      </p:sp>
      <p:sp>
        <p:nvSpPr>
          <p:cNvPr id="65" name="CustomShape 18"/>
          <p:cNvSpPr/>
          <p:nvPr/>
        </p:nvSpPr>
        <p:spPr>
          <a:xfrm>
            <a:off x="15224272" y="20159842"/>
            <a:ext cx="4631873" cy="601557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285750" indent="-28575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pt-PT" b="0" strike="noStrike" spc="-1" dirty="0" err="1">
                <a:solidFill>
                  <a:srgbClr val="004B87"/>
                </a:solidFill>
                <a:latin typeface="Calibri"/>
              </a:rPr>
              <a:t>Cloud</a:t>
            </a:r>
            <a:r>
              <a:rPr lang="pt-PT" b="0" strike="noStrike" spc="-1" dirty="0">
                <a:solidFill>
                  <a:srgbClr val="004B87"/>
                </a:solidFill>
                <a:latin typeface="Calibri"/>
              </a:rPr>
              <a:t> </a:t>
            </a:r>
            <a:r>
              <a:rPr lang="pt-PT" b="0" strike="noStrike" spc="-1" dirty="0" err="1">
                <a:solidFill>
                  <a:srgbClr val="004B87"/>
                </a:solidFill>
                <a:latin typeface="Calibri"/>
              </a:rPr>
              <a:t>Functions</a:t>
            </a:r>
            <a:r>
              <a:rPr lang="pt-PT" b="0" strike="noStrike" spc="-1" dirty="0">
                <a:solidFill>
                  <a:srgbClr val="004B87"/>
                </a:solidFill>
                <a:latin typeface="Calibri"/>
              </a:rPr>
              <a:t> for </a:t>
            </a:r>
            <a:r>
              <a:rPr lang="pt-PT" b="0" strike="noStrike" spc="-1" dirty="0" err="1">
                <a:solidFill>
                  <a:srgbClr val="004B87"/>
                </a:solidFill>
                <a:latin typeface="Calibri"/>
              </a:rPr>
              <a:t>Firebase</a:t>
            </a:r>
            <a:r>
              <a:rPr lang="pt-PT" b="0" strike="noStrike" spc="-1" dirty="0">
                <a:solidFill>
                  <a:srgbClr val="004B87"/>
                </a:solidFill>
                <a:latin typeface="Calibri"/>
              </a:rPr>
              <a:t>. (n.d.). </a:t>
            </a:r>
            <a:r>
              <a:rPr lang="pt-PT" b="0" strike="noStrike" spc="-1" dirty="0" err="1">
                <a:solidFill>
                  <a:srgbClr val="004B87"/>
                </a:solidFill>
                <a:latin typeface="Calibri"/>
              </a:rPr>
              <a:t>Retrieved</a:t>
            </a:r>
            <a:r>
              <a:rPr lang="pt-PT" b="0" strike="noStrike" spc="-1" dirty="0">
                <a:solidFill>
                  <a:srgbClr val="004B87"/>
                </a:solidFill>
                <a:latin typeface="Calibri"/>
              </a:rPr>
              <a:t> </a:t>
            </a:r>
            <a:r>
              <a:rPr lang="pt-PT" b="0" strike="noStrike" spc="-1" dirty="0" err="1">
                <a:solidFill>
                  <a:srgbClr val="004B87"/>
                </a:solidFill>
                <a:latin typeface="Calibri"/>
              </a:rPr>
              <a:t>December</a:t>
            </a:r>
            <a:r>
              <a:rPr lang="pt-PT" b="0" strike="noStrike" spc="-1" dirty="0">
                <a:solidFill>
                  <a:srgbClr val="004B87"/>
                </a:solidFill>
                <a:latin typeface="Calibri"/>
              </a:rPr>
              <a:t> 2, 2025, </a:t>
            </a:r>
            <a:r>
              <a:rPr lang="pt-PT" b="0" strike="noStrike" spc="-1" dirty="0" err="1">
                <a:solidFill>
                  <a:srgbClr val="004B87"/>
                </a:solidFill>
                <a:latin typeface="Calibri"/>
              </a:rPr>
              <a:t>from</a:t>
            </a:r>
            <a:r>
              <a:rPr lang="pt-PT" b="0" strike="noStrike" spc="-1" dirty="0">
                <a:solidFill>
                  <a:srgbClr val="004B87"/>
                </a:solidFill>
                <a:latin typeface="Calibri"/>
              </a:rPr>
              <a:t> https://firebase.google.com/docs/functions?hl=pt-br</a:t>
            </a:r>
          </a:p>
          <a:p>
            <a:pPr marL="285750" indent="-285750">
              <a:lnSpc>
                <a:spcPts val="2100"/>
              </a:lnSpc>
              <a:buFont typeface="Arial" panose="020B0604020202020204" pitchFamily="34" charset="0"/>
              <a:buChar char="•"/>
            </a:pPr>
            <a:endParaRPr lang="pt-PT" b="0" strike="noStrike" spc="-1" dirty="0">
              <a:solidFill>
                <a:srgbClr val="004B87"/>
              </a:solidFill>
              <a:latin typeface="Calibri"/>
            </a:endParaRPr>
          </a:p>
          <a:p>
            <a:pPr marL="285750" indent="-28575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pt-PT" b="0" strike="noStrike" spc="-1" dirty="0" err="1">
                <a:solidFill>
                  <a:srgbClr val="004B87"/>
                </a:solidFill>
                <a:latin typeface="Calibri"/>
              </a:rPr>
              <a:t>Firebase</a:t>
            </a:r>
            <a:r>
              <a:rPr lang="pt-PT" b="0" strike="noStrike" spc="-1" dirty="0">
                <a:solidFill>
                  <a:srgbClr val="004B87"/>
                </a:solidFill>
                <a:latin typeface="Calibri"/>
              </a:rPr>
              <a:t> </a:t>
            </a:r>
            <a:r>
              <a:rPr lang="pt-PT" b="0" strike="noStrike" spc="-1" dirty="0" err="1">
                <a:solidFill>
                  <a:srgbClr val="004B87"/>
                </a:solidFill>
                <a:latin typeface="Calibri"/>
              </a:rPr>
              <a:t>Authentication</a:t>
            </a:r>
            <a:r>
              <a:rPr lang="pt-PT" b="0" strike="noStrike" spc="-1" dirty="0">
                <a:solidFill>
                  <a:srgbClr val="004B87"/>
                </a:solidFill>
                <a:latin typeface="Calibri"/>
              </a:rPr>
              <a:t>. (n.d.). </a:t>
            </a:r>
            <a:r>
              <a:rPr lang="pt-PT" b="0" strike="noStrike" spc="-1" dirty="0" err="1">
                <a:solidFill>
                  <a:srgbClr val="004B87"/>
                </a:solidFill>
                <a:latin typeface="Calibri"/>
              </a:rPr>
              <a:t>Retrieved</a:t>
            </a:r>
            <a:r>
              <a:rPr lang="pt-PT" b="0" strike="noStrike" spc="-1" dirty="0">
                <a:solidFill>
                  <a:srgbClr val="004B87"/>
                </a:solidFill>
                <a:latin typeface="Calibri"/>
              </a:rPr>
              <a:t> </a:t>
            </a:r>
            <a:r>
              <a:rPr lang="pt-PT" b="0" strike="noStrike" spc="-1" dirty="0" err="1">
                <a:solidFill>
                  <a:srgbClr val="004B87"/>
                </a:solidFill>
                <a:latin typeface="Calibri"/>
              </a:rPr>
              <a:t>November</a:t>
            </a:r>
            <a:r>
              <a:rPr lang="pt-PT" b="0" strike="noStrike" spc="-1" dirty="0">
                <a:solidFill>
                  <a:srgbClr val="004B87"/>
                </a:solidFill>
                <a:latin typeface="Calibri"/>
              </a:rPr>
              <a:t> 13, 2025, </a:t>
            </a:r>
            <a:r>
              <a:rPr lang="pt-PT" b="0" strike="noStrike" spc="-1" dirty="0" err="1">
                <a:solidFill>
                  <a:srgbClr val="004B87"/>
                </a:solidFill>
                <a:latin typeface="Calibri"/>
              </a:rPr>
              <a:t>from</a:t>
            </a:r>
            <a:r>
              <a:rPr lang="pt-PT" b="0" strike="noStrike" spc="-1" dirty="0">
                <a:solidFill>
                  <a:srgbClr val="004B87"/>
                </a:solidFill>
                <a:latin typeface="Calibri"/>
              </a:rPr>
              <a:t> https://firebase.google.com/docs/auth?hl=pt-br</a:t>
            </a:r>
          </a:p>
          <a:p>
            <a:pPr marL="285750" indent="-285750">
              <a:lnSpc>
                <a:spcPts val="2100"/>
              </a:lnSpc>
              <a:buFont typeface="Arial" panose="020B0604020202020204" pitchFamily="34" charset="0"/>
              <a:buChar char="•"/>
            </a:pPr>
            <a:endParaRPr lang="pt-PT" b="0" strike="noStrike" spc="-1" dirty="0">
              <a:solidFill>
                <a:srgbClr val="004B87"/>
              </a:solidFill>
              <a:latin typeface="Calibri"/>
            </a:endParaRPr>
          </a:p>
          <a:p>
            <a:pPr marL="285750" indent="-28575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pt-PT" b="0" strike="noStrike" spc="-1" dirty="0">
                <a:solidFill>
                  <a:srgbClr val="004B87"/>
                </a:solidFill>
                <a:latin typeface="Calibri"/>
              </a:rPr>
              <a:t>Firestore  |  </a:t>
            </a:r>
            <a:r>
              <a:rPr lang="pt-PT" b="0" strike="noStrike" spc="-1" dirty="0" err="1">
                <a:solidFill>
                  <a:srgbClr val="004B87"/>
                </a:solidFill>
                <a:latin typeface="Calibri"/>
              </a:rPr>
              <a:t>Firebase</a:t>
            </a:r>
            <a:r>
              <a:rPr lang="pt-PT" b="0" strike="noStrike" spc="-1" dirty="0">
                <a:solidFill>
                  <a:srgbClr val="004B87"/>
                </a:solidFill>
                <a:latin typeface="Calibri"/>
              </a:rPr>
              <a:t>. (n.d.). </a:t>
            </a:r>
            <a:r>
              <a:rPr lang="pt-PT" b="0" strike="noStrike" spc="-1" dirty="0" err="1">
                <a:solidFill>
                  <a:srgbClr val="004B87"/>
                </a:solidFill>
                <a:latin typeface="Calibri"/>
              </a:rPr>
              <a:t>Retrieved</a:t>
            </a:r>
            <a:r>
              <a:rPr lang="pt-PT" b="0" strike="noStrike" spc="-1" dirty="0">
                <a:solidFill>
                  <a:srgbClr val="004B87"/>
                </a:solidFill>
                <a:latin typeface="Calibri"/>
              </a:rPr>
              <a:t> </a:t>
            </a:r>
            <a:r>
              <a:rPr lang="pt-PT" b="0" strike="noStrike" spc="-1" dirty="0" err="1">
                <a:solidFill>
                  <a:srgbClr val="004B87"/>
                </a:solidFill>
                <a:latin typeface="Calibri"/>
              </a:rPr>
              <a:t>November</a:t>
            </a:r>
            <a:r>
              <a:rPr lang="pt-PT" b="0" strike="noStrike" spc="-1" dirty="0">
                <a:solidFill>
                  <a:srgbClr val="004B87"/>
                </a:solidFill>
                <a:latin typeface="Calibri"/>
              </a:rPr>
              <a:t> 13, 2025, </a:t>
            </a:r>
            <a:r>
              <a:rPr lang="pt-PT" b="0" strike="noStrike" spc="-1" dirty="0" err="1">
                <a:solidFill>
                  <a:srgbClr val="004B87"/>
                </a:solidFill>
                <a:latin typeface="Calibri"/>
              </a:rPr>
              <a:t>from</a:t>
            </a:r>
            <a:r>
              <a:rPr lang="pt-PT" b="0" strike="noStrike" spc="-1" dirty="0">
                <a:solidFill>
                  <a:srgbClr val="004B87"/>
                </a:solidFill>
                <a:latin typeface="Calibri"/>
              </a:rPr>
              <a:t> https://firebase.google.com/docs/firestore?hl=pt-br</a:t>
            </a:r>
          </a:p>
          <a:p>
            <a:pPr marL="285750" indent="-285750">
              <a:lnSpc>
                <a:spcPts val="2100"/>
              </a:lnSpc>
              <a:buFont typeface="Arial" panose="020B0604020202020204" pitchFamily="34" charset="0"/>
              <a:buChar char="•"/>
            </a:pPr>
            <a:endParaRPr lang="pt-PT" b="0" strike="noStrike" spc="-1" dirty="0">
              <a:solidFill>
                <a:srgbClr val="004B87"/>
              </a:solidFill>
              <a:latin typeface="Calibri"/>
            </a:endParaRPr>
          </a:p>
          <a:p>
            <a:pPr marL="285750" indent="-28575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pt-PT" b="0" strike="noStrike" spc="-1" dirty="0" err="1">
                <a:solidFill>
                  <a:srgbClr val="004B87"/>
                </a:solidFill>
                <a:latin typeface="Calibri"/>
              </a:rPr>
              <a:t>Kotlin</a:t>
            </a:r>
            <a:r>
              <a:rPr lang="pt-PT" b="0" strike="noStrike" spc="-1" dirty="0">
                <a:solidFill>
                  <a:srgbClr val="004B87"/>
                </a:solidFill>
                <a:latin typeface="Calibri"/>
              </a:rPr>
              <a:t> for Android | </a:t>
            </a:r>
            <a:r>
              <a:rPr lang="pt-PT" b="0" strike="noStrike" spc="-1" dirty="0" err="1">
                <a:solidFill>
                  <a:srgbClr val="004B87"/>
                </a:solidFill>
                <a:latin typeface="Calibri"/>
              </a:rPr>
              <a:t>Kotlin</a:t>
            </a:r>
            <a:r>
              <a:rPr lang="pt-PT" b="0" strike="noStrike" spc="-1" dirty="0">
                <a:solidFill>
                  <a:srgbClr val="004B87"/>
                </a:solidFill>
                <a:latin typeface="Calibri"/>
              </a:rPr>
              <a:t> </a:t>
            </a:r>
            <a:r>
              <a:rPr lang="pt-PT" b="0" strike="noStrike" spc="-1" dirty="0" err="1">
                <a:solidFill>
                  <a:srgbClr val="004B87"/>
                </a:solidFill>
                <a:latin typeface="Calibri"/>
              </a:rPr>
              <a:t>Documentation</a:t>
            </a:r>
            <a:r>
              <a:rPr lang="pt-PT" b="0" strike="noStrike" spc="-1" dirty="0">
                <a:solidFill>
                  <a:srgbClr val="004B87"/>
                </a:solidFill>
                <a:latin typeface="Calibri"/>
              </a:rPr>
              <a:t>. (n.d.). </a:t>
            </a:r>
            <a:r>
              <a:rPr lang="pt-PT" b="0" strike="noStrike" spc="-1" dirty="0" err="1">
                <a:solidFill>
                  <a:srgbClr val="004B87"/>
                </a:solidFill>
                <a:latin typeface="Calibri"/>
              </a:rPr>
              <a:t>Retrieved</a:t>
            </a:r>
            <a:r>
              <a:rPr lang="pt-PT" b="0" strike="noStrike" spc="-1" dirty="0">
                <a:solidFill>
                  <a:srgbClr val="004B87"/>
                </a:solidFill>
                <a:latin typeface="Calibri"/>
              </a:rPr>
              <a:t> </a:t>
            </a:r>
            <a:r>
              <a:rPr lang="pt-PT" b="0" strike="noStrike" spc="-1" dirty="0" err="1">
                <a:solidFill>
                  <a:srgbClr val="004B87"/>
                </a:solidFill>
                <a:latin typeface="Calibri"/>
              </a:rPr>
              <a:t>October</a:t>
            </a:r>
            <a:r>
              <a:rPr lang="pt-PT" b="0" strike="noStrike" spc="-1" dirty="0">
                <a:solidFill>
                  <a:srgbClr val="004B87"/>
                </a:solidFill>
                <a:latin typeface="Calibri"/>
              </a:rPr>
              <a:t> 31, 2025, </a:t>
            </a:r>
            <a:r>
              <a:rPr lang="pt-PT" b="0" strike="noStrike" spc="-1" dirty="0" err="1">
                <a:solidFill>
                  <a:srgbClr val="004B87"/>
                </a:solidFill>
                <a:latin typeface="Calibri"/>
              </a:rPr>
              <a:t>from</a:t>
            </a:r>
            <a:r>
              <a:rPr lang="pt-PT" b="0" strike="noStrike" spc="-1" dirty="0">
                <a:solidFill>
                  <a:srgbClr val="004B87"/>
                </a:solidFill>
                <a:latin typeface="Calibri"/>
              </a:rPr>
              <a:t> https://kotlinlang.org/docs/android-overview.html</a:t>
            </a:r>
          </a:p>
          <a:p>
            <a:pPr marL="285750" indent="-285750">
              <a:lnSpc>
                <a:spcPts val="2100"/>
              </a:lnSpc>
              <a:buFont typeface="Arial" panose="020B0604020202020204" pitchFamily="34" charset="0"/>
              <a:buChar char="•"/>
            </a:pPr>
            <a:endParaRPr lang="pt-PT" b="0" strike="noStrike" spc="-1" dirty="0">
              <a:solidFill>
                <a:srgbClr val="004B87"/>
              </a:solidFill>
              <a:latin typeface="Calibri"/>
            </a:endParaRPr>
          </a:p>
          <a:p>
            <a:pPr marL="285750" indent="-28575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pt-PT" b="0" strike="noStrike" spc="-1" dirty="0" err="1">
                <a:solidFill>
                  <a:srgbClr val="004B87"/>
                </a:solidFill>
                <a:latin typeface="Calibri"/>
              </a:rPr>
              <a:t>Quick</a:t>
            </a:r>
            <a:r>
              <a:rPr lang="pt-PT" b="0" strike="noStrike" spc="-1" dirty="0">
                <a:solidFill>
                  <a:srgbClr val="004B87"/>
                </a:solidFill>
                <a:latin typeface="Calibri"/>
              </a:rPr>
              <a:t> </a:t>
            </a:r>
            <a:r>
              <a:rPr lang="pt-PT" b="0" strike="noStrike" spc="-1" dirty="0" err="1">
                <a:solidFill>
                  <a:srgbClr val="004B87"/>
                </a:solidFill>
                <a:latin typeface="Calibri"/>
              </a:rPr>
              <a:t>Start</a:t>
            </a:r>
            <a:r>
              <a:rPr lang="pt-PT" b="0" strike="noStrike" spc="-1" dirty="0">
                <a:solidFill>
                  <a:srgbClr val="004B87"/>
                </a:solidFill>
                <a:latin typeface="Calibri"/>
              </a:rPr>
              <a:t> – </a:t>
            </a:r>
            <a:r>
              <a:rPr lang="pt-PT" b="0" strike="noStrike" spc="-1" dirty="0" err="1">
                <a:solidFill>
                  <a:srgbClr val="004B87"/>
                </a:solidFill>
                <a:latin typeface="Calibri"/>
              </a:rPr>
              <a:t>React</a:t>
            </a:r>
            <a:r>
              <a:rPr lang="pt-PT" b="0" strike="noStrike" spc="-1" dirty="0">
                <a:solidFill>
                  <a:srgbClr val="004B87"/>
                </a:solidFill>
                <a:latin typeface="Calibri"/>
              </a:rPr>
              <a:t>. (n.d.). </a:t>
            </a:r>
            <a:r>
              <a:rPr lang="pt-PT" b="0" strike="noStrike" spc="-1" dirty="0" err="1">
                <a:solidFill>
                  <a:srgbClr val="004B87"/>
                </a:solidFill>
                <a:latin typeface="Calibri"/>
              </a:rPr>
              <a:t>Retrieved</a:t>
            </a:r>
            <a:r>
              <a:rPr lang="pt-PT" b="0" strike="noStrike" spc="-1" dirty="0">
                <a:solidFill>
                  <a:srgbClr val="004B87"/>
                </a:solidFill>
                <a:latin typeface="Calibri"/>
              </a:rPr>
              <a:t> </a:t>
            </a:r>
            <a:r>
              <a:rPr lang="pt-PT" b="0" strike="noStrike" spc="-1" dirty="0" err="1">
                <a:solidFill>
                  <a:srgbClr val="004B87"/>
                </a:solidFill>
                <a:latin typeface="Calibri"/>
              </a:rPr>
              <a:t>January</a:t>
            </a:r>
            <a:r>
              <a:rPr lang="pt-PT" b="0" strike="noStrike" spc="-1" dirty="0">
                <a:solidFill>
                  <a:srgbClr val="004B87"/>
                </a:solidFill>
                <a:latin typeface="Calibri"/>
              </a:rPr>
              <a:t> 3, 2026, </a:t>
            </a:r>
            <a:r>
              <a:rPr lang="pt-PT" b="0" strike="noStrike" spc="-1" dirty="0" err="1">
                <a:solidFill>
                  <a:srgbClr val="004B87"/>
                </a:solidFill>
                <a:latin typeface="Calibri"/>
              </a:rPr>
              <a:t>from</a:t>
            </a:r>
            <a:r>
              <a:rPr lang="pt-PT" b="0" strike="noStrike" spc="-1" dirty="0">
                <a:solidFill>
                  <a:srgbClr val="004B87"/>
                </a:solidFill>
                <a:latin typeface="Calibri"/>
              </a:rPr>
              <a:t> https://react.dev/learn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66" name="CustomShape 19"/>
          <p:cNvSpPr/>
          <p:nvPr/>
        </p:nvSpPr>
        <p:spPr>
          <a:xfrm>
            <a:off x="8205120" y="28254960"/>
            <a:ext cx="4328160" cy="216837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ts val="1760"/>
              </a:lnSpc>
              <a:spcAft>
                <a:spcPts val="601"/>
              </a:spcAft>
            </a:pPr>
            <a:r>
              <a:rPr lang="en-GB" sz="1800" b="1" strike="noStrike" spc="-1" dirty="0">
                <a:solidFill>
                  <a:srgbClr val="004B87"/>
                </a:solidFill>
                <a:latin typeface="Calibri"/>
                <a:ea typeface="Arial"/>
              </a:rPr>
              <a:t>CONTATOS - ALUNOS</a:t>
            </a:r>
            <a:endParaRPr lang="en-US" sz="1800" b="0" strike="noStrike" spc="-1" dirty="0">
              <a:latin typeface="Arial"/>
            </a:endParaRPr>
          </a:p>
          <a:p>
            <a:pPr>
              <a:lnSpc>
                <a:spcPts val="1760"/>
              </a:lnSpc>
              <a:spcAft>
                <a:spcPts val="601"/>
              </a:spcAft>
            </a:pPr>
            <a:r>
              <a:rPr lang="pt-PT" spc="-1" dirty="0">
                <a:solidFill>
                  <a:srgbClr val="004B87"/>
                </a:solidFill>
                <a:latin typeface="Calibri"/>
              </a:rPr>
              <a:t>a22996@alunos.ipca.pt (Fábio Fernandes)</a:t>
            </a:r>
          </a:p>
          <a:p>
            <a:pPr>
              <a:lnSpc>
                <a:spcPts val="1760"/>
              </a:lnSpc>
              <a:spcAft>
                <a:spcPts val="601"/>
              </a:spcAft>
            </a:pPr>
            <a:r>
              <a:rPr lang="pt-PT" spc="-1" dirty="0">
                <a:solidFill>
                  <a:srgbClr val="004B87"/>
                </a:solidFill>
                <a:latin typeface="Calibri"/>
              </a:rPr>
              <a:t>a22997@alunos.ipca.pt (Fábio Costa)</a:t>
            </a:r>
          </a:p>
          <a:p>
            <a:pPr>
              <a:lnSpc>
                <a:spcPts val="1760"/>
              </a:lnSpc>
              <a:spcAft>
                <a:spcPts val="601"/>
              </a:spcAft>
            </a:pPr>
            <a:r>
              <a:rPr lang="pt-PT" spc="-1" dirty="0">
                <a:solidFill>
                  <a:srgbClr val="004B87"/>
                </a:solidFill>
                <a:latin typeface="Calibri"/>
              </a:rPr>
              <a:t>a23008@alunos.ipca.pt (Luís Freitas)</a:t>
            </a:r>
          </a:p>
          <a:p>
            <a:pPr>
              <a:lnSpc>
                <a:spcPts val="1760"/>
              </a:lnSpc>
              <a:spcAft>
                <a:spcPts val="601"/>
              </a:spcAft>
            </a:pPr>
            <a:r>
              <a:rPr lang="pt-PT" spc="-1" dirty="0">
                <a:solidFill>
                  <a:srgbClr val="004B87"/>
                </a:solidFill>
                <a:latin typeface="Calibri"/>
              </a:rPr>
              <a:t>a23015@alunos.ipca.pt (Lino Azevedo)</a:t>
            </a:r>
          </a:p>
          <a:p>
            <a:pPr>
              <a:lnSpc>
                <a:spcPts val="1760"/>
              </a:lnSpc>
              <a:spcAft>
                <a:spcPts val="601"/>
              </a:spcAft>
            </a:pPr>
            <a:r>
              <a:rPr lang="pt-PT" spc="-1" dirty="0">
                <a:solidFill>
                  <a:srgbClr val="004B87"/>
                </a:solidFill>
                <a:latin typeface="Calibri"/>
              </a:rPr>
              <a:t>a23020@alunos.ipca.pt (Gonçalo </a:t>
            </a:r>
            <a:r>
              <a:rPr lang="pt-PT" spc="-1" dirty="0">
                <a:solidFill>
                  <a:srgbClr val="004B87"/>
                </a:solidFill>
                <a:latin typeface="Calibri"/>
                <a:ea typeface="Arial"/>
              </a:rPr>
              <a:t>Gonçalves)</a:t>
            </a:r>
          </a:p>
          <a:p>
            <a:pPr>
              <a:lnSpc>
                <a:spcPts val="1760"/>
              </a:lnSpc>
              <a:spcAft>
                <a:spcPts val="601"/>
              </a:spcAft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67" name="CustomShape 20"/>
          <p:cNvSpPr/>
          <p:nvPr/>
        </p:nvSpPr>
        <p:spPr>
          <a:xfrm>
            <a:off x="14144760" y="5695560"/>
            <a:ext cx="5616000" cy="39092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sz="2400" b="0" strike="noStrike" spc="-1" dirty="0">
                <a:solidFill>
                  <a:srgbClr val="004B8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Benefícios esperados:</a:t>
            </a:r>
            <a:endParaRPr lang="en-US" sz="2400" b="0" strike="noStrike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3080" indent="-342720" algn="just">
              <a:lnSpc>
                <a:spcPct val="150000"/>
              </a:lnSpc>
              <a:buSzPct val="100000"/>
              <a:buBlip>
                <a:blip r:embed="rId3"/>
              </a:buBlip>
            </a:pPr>
            <a:r>
              <a:rPr lang="pt-PT" sz="2400" b="0" strike="noStrike" spc="-1" dirty="0">
                <a:solidFill>
                  <a:srgbClr val="004B8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Autenticação e perfis (Beneficiário / Colaborador / Administrador);</a:t>
            </a:r>
          </a:p>
          <a:p>
            <a:pPr marL="343080" indent="-342720" algn="just">
              <a:lnSpc>
                <a:spcPct val="150000"/>
              </a:lnSpc>
              <a:buSzPct val="100000"/>
              <a:buBlip>
                <a:blip r:embed="rId3"/>
              </a:buBlip>
            </a:pPr>
            <a:r>
              <a:rPr lang="pt-PT" sz="2400" b="0" strike="noStrike" spc="-1" dirty="0">
                <a:solidFill>
                  <a:srgbClr val="004B8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Sincronização em tempo real com Firestore</a:t>
            </a:r>
            <a:r>
              <a:rPr lang="pt-PT" sz="2400" spc="-1" dirty="0">
                <a:solidFill>
                  <a:srgbClr val="004B8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pPr marL="343080" indent="-342720" algn="just">
              <a:lnSpc>
                <a:spcPct val="150000"/>
              </a:lnSpc>
              <a:buSzPct val="100000"/>
              <a:buBlip>
                <a:blip r:embed="rId3"/>
              </a:buBlip>
            </a:pPr>
            <a:r>
              <a:rPr lang="pt-PT" sz="2400" b="0" strike="noStrike" spc="-1" dirty="0">
                <a:solidFill>
                  <a:srgbClr val="004B8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Notificações automáticas;</a:t>
            </a:r>
          </a:p>
          <a:p>
            <a:pPr marL="343080" indent="-342720" algn="just">
              <a:lnSpc>
                <a:spcPct val="150000"/>
              </a:lnSpc>
              <a:buSzPct val="100000"/>
              <a:buBlip>
                <a:blip r:embed="rId3"/>
              </a:buBlip>
            </a:pPr>
            <a:r>
              <a:rPr lang="pt-PT" sz="2400" b="0" strike="noStrike" spc="-1" dirty="0">
                <a:solidFill>
                  <a:srgbClr val="004B8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Exportação de dados (PDF/CSV).</a:t>
            </a:r>
            <a:endParaRPr lang="en-US" sz="2400" b="0" strike="noStrike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CustomShape 19">
            <a:extLst>
              <a:ext uri="{FF2B5EF4-FFF2-40B4-BE49-F238E27FC236}">
                <a16:creationId xmlns:a16="http://schemas.microsoft.com/office/drawing/2014/main" id="{E3D64404-C618-1612-93A3-E430BEC5451B}"/>
              </a:ext>
            </a:extLst>
          </p:cNvPr>
          <p:cNvSpPr/>
          <p:nvPr/>
        </p:nvSpPr>
        <p:spPr>
          <a:xfrm>
            <a:off x="12926006" y="28254960"/>
            <a:ext cx="3943646" cy="155281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ts val="1760"/>
              </a:lnSpc>
              <a:spcAft>
                <a:spcPts val="601"/>
              </a:spcAft>
            </a:pPr>
            <a:r>
              <a:rPr lang="en-GB" sz="1800" b="1" strike="noStrike" spc="-1" dirty="0">
                <a:solidFill>
                  <a:srgbClr val="004B87"/>
                </a:solidFill>
                <a:latin typeface="Calibri"/>
                <a:ea typeface="Arial"/>
              </a:rPr>
              <a:t>CONTATOS - SUPERVISORES</a:t>
            </a:r>
            <a:endParaRPr lang="en-US" sz="1800" b="0" strike="noStrike" spc="-1" dirty="0">
              <a:latin typeface="Arial"/>
            </a:endParaRPr>
          </a:p>
          <a:p>
            <a:pPr>
              <a:lnSpc>
                <a:spcPts val="1760"/>
              </a:lnSpc>
              <a:spcAft>
                <a:spcPts val="601"/>
              </a:spcAft>
            </a:pPr>
            <a:r>
              <a:rPr lang="pt-PT" spc="-1" dirty="0">
                <a:solidFill>
                  <a:srgbClr val="004B87"/>
                </a:solidFill>
                <a:latin typeface="Calibri"/>
                <a:ea typeface="Arial"/>
              </a:rPr>
              <a:t>patricialeite</a:t>
            </a:r>
            <a:r>
              <a:rPr lang="pt-PT" sz="1800" b="0" strike="noStrike" spc="-1" dirty="0">
                <a:solidFill>
                  <a:srgbClr val="004B87"/>
                </a:solidFill>
                <a:latin typeface="Calibri"/>
                <a:ea typeface="Arial"/>
              </a:rPr>
              <a:t>@ipca.pt (Dra. Patrícia Leite)</a:t>
            </a:r>
          </a:p>
          <a:p>
            <a:pPr>
              <a:lnSpc>
                <a:spcPts val="1760"/>
              </a:lnSpc>
              <a:spcAft>
                <a:spcPts val="601"/>
              </a:spcAft>
            </a:pPr>
            <a:r>
              <a:rPr lang="pt-PT" spc="-1" dirty="0">
                <a:solidFill>
                  <a:srgbClr val="004B87"/>
                </a:solidFill>
                <a:latin typeface="Calibri"/>
                <a:ea typeface="Arial"/>
              </a:rPr>
              <a:t>lgomes@ipca.pt (Eng. Lourenço Gomes)</a:t>
            </a:r>
          </a:p>
          <a:p>
            <a:pPr>
              <a:lnSpc>
                <a:spcPts val="1760"/>
              </a:lnSpc>
              <a:spcAft>
                <a:spcPts val="601"/>
              </a:spcAft>
            </a:pPr>
            <a:endParaRPr lang="pt-PT" spc="-1" dirty="0">
              <a:solidFill>
                <a:srgbClr val="004B87"/>
              </a:solidFill>
              <a:latin typeface="Calibri"/>
              <a:ea typeface="Arial"/>
            </a:endParaRPr>
          </a:p>
          <a:p>
            <a:pPr>
              <a:lnSpc>
                <a:spcPts val="1760"/>
              </a:lnSpc>
              <a:spcAft>
                <a:spcPts val="601"/>
              </a:spcAft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5" name="CustomShape 19">
            <a:extLst>
              <a:ext uri="{FF2B5EF4-FFF2-40B4-BE49-F238E27FC236}">
                <a16:creationId xmlns:a16="http://schemas.microsoft.com/office/drawing/2014/main" id="{B288ED2F-9BE4-3603-CF5A-4384E5EE9820}"/>
              </a:ext>
            </a:extLst>
          </p:cNvPr>
          <p:cNvSpPr/>
          <p:nvPr/>
        </p:nvSpPr>
        <p:spPr>
          <a:xfrm>
            <a:off x="17262378" y="28254960"/>
            <a:ext cx="2498382" cy="32312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ts val="1760"/>
              </a:lnSpc>
              <a:spcAft>
                <a:spcPts val="601"/>
              </a:spcAft>
            </a:pPr>
            <a:r>
              <a:rPr lang="pt-PT" sz="1800" b="1" strike="noStrike" spc="-1" dirty="0">
                <a:solidFill>
                  <a:srgbClr val="004B87"/>
                </a:solidFill>
                <a:latin typeface="Calibri"/>
                <a:ea typeface="Arial"/>
              </a:rPr>
              <a:t>REPOSITÓRIO - GITHUB</a:t>
            </a:r>
            <a:endParaRPr lang="en-US" sz="1800" b="0" strike="noStrike" spc="-1" dirty="0">
              <a:latin typeface="Arial"/>
            </a:endParaRPr>
          </a:p>
        </p:txBody>
      </p:sp>
      <p:pic>
        <p:nvPicPr>
          <p:cNvPr id="7" name="Imagem 6" descr="Uma imagem com arte, padrão, captura de ecrã, Simetria&#10;&#10;Os conteúdos gerados por IA podem estar incorretos.">
            <a:extLst>
              <a:ext uri="{FF2B5EF4-FFF2-40B4-BE49-F238E27FC236}">
                <a16:creationId xmlns:a16="http://schemas.microsoft.com/office/drawing/2014/main" id="{5A03795A-D628-1068-990C-FEB6F70005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76" t="31419" r="21631" b="30645"/>
          <a:stretch>
            <a:fillRect/>
          </a:stretch>
        </p:blipFill>
        <p:spPr>
          <a:xfrm>
            <a:off x="17711469" y="28578082"/>
            <a:ext cx="1600200" cy="1614744"/>
          </a:xfrm>
          <a:prstGeom prst="rect">
            <a:avLst/>
          </a:prstGeom>
        </p:spPr>
      </p:pic>
      <p:pic>
        <p:nvPicPr>
          <p:cNvPr id="18" name="Imagem 17" descr="Uma imagem com texto, Telemóvel, captura de ecrã, Dispositivo móvel&#10;&#10;Os conteúdos gerados por IA podem estar incorretos.">
            <a:extLst>
              <a:ext uri="{FF2B5EF4-FFF2-40B4-BE49-F238E27FC236}">
                <a16:creationId xmlns:a16="http://schemas.microsoft.com/office/drawing/2014/main" id="{8BD60FD1-68A7-6659-F9D1-43B45939CB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7480" y="20103840"/>
            <a:ext cx="3161480" cy="6679221"/>
          </a:xfrm>
          <a:prstGeom prst="rect">
            <a:avLst/>
          </a:prstGeom>
        </p:spPr>
      </p:pic>
      <p:pic>
        <p:nvPicPr>
          <p:cNvPr id="20" name="Imagem 19" descr="Uma imagem com texto, captura de ecrã, Telemóvel, Dispositivo móvel&#10;&#10;Os conteúdos gerados por IA podem estar incorretos.">
            <a:extLst>
              <a:ext uri="{FF2B5EF4-FFF2-40B4-BE49-F238E27FC236}">
                <a16:creationId xmlns:a16="http://schemas.microsoft.com/office/drawing/2014/main" id="{04FB4319-589B-E8FA-74C0-41E32BB4E7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1938" y="20105061"/>
            <a:ext cx="3160902" cy="667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1014</TotalTime>
  <Words>656</Words>
  <Application>Microsoft Office PowerPoint</Application>
  <PresentationFormat>Personalizados</PresentationFormat>
  <Paragraphs>56</Paragraphs>
  <Slides>1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Symbol</vt:lpstr>
      <vt:lpstr>Wingdings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AMoreira</dc:creator>
  <dc:description/>
  <cp:lastModifiedBy>Fábio Alexandre Gomes Fernandes</cp:lastModifiedBy>
  <cp:revision>98</cp:revision>
  <dcterms:created xsi:type="dcterms:W3CDTF">2014-03-10T11:06:56Z</dcterms:created>
  <dcterms:modified xsi:type="dcterms:W3CDTF">2026-01-07T23:02:04Z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Personalizados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2</vt:i4>
  </property>
</Properties>
</file>